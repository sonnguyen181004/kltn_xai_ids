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Nguồn: RQ1_docx/Bao_Cao_Tong_Hop_Thuc_Nghiem_RQ1_RandomForest_XGBoost.docx, mục 1.1. CSE-CIC-IDS2018 gồm 3.500.000 dòng đã chuẩn hóa, 78 đặc trưng; train/test 80/20 theo phân tầng; các lớp hiếm được giữ đúng tỷ lệ.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-24765" y="44450"/>
            <a:ext cx="12192000" cy="6858000"/>
          </a:xfrm>
          <a:prstGeom prst="rect">
            <a:avLst/>
          </a:prstGeom>
          <a:solidFill>
            <a:srgbClr val="061219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4810125" cy="6858000"/>
          </a:xfrm>
          <a:prstGeom prst="rect">
            <a:avLst/>
          </a:prstGeom>
          <a:solidFill>
            <a:srgbClr val="0C2A34"/>
          </a:solidFill>
          <a:ln w="0">
            <a:noFill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4810125" y="0"/>
            <a:ext cx="76200" cy="6858000"/>
          </a:xfrm>
          <a:prstGeom prst="rect">
            <a:avLst/>
          </a:prstGeom>
          <a:solidFill>
            <a:srgbClr val="6AC6D1"/>
          </a:solidFill>
          <a:ln w="0">
            <a:noFill/>
          </a:ln>
        </p:spPr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3257550" y="400050"/>
            <a:ext cx="5676900" cy="628650"/>
          </a:xfrm>
          <a:prstGeom prst="roundRect">
            <a:avLst>
              <a:gd name="adj" fmla="val 12121"/>
            </a:avLst>
          </a:prstGeom>
          <a:solidFill>
            <a:srgbClr val="24333B"/>
          </a:solidFill>
          <a:ln w="0"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3476625" y="56197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025" b="1">
                <a:solidFill>
                  <a:srgbClr val="F4F7F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F4F7F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 VÀ QUY TRÌNH XỬ LÝ</a:t>
            </a:r>
            <a:endParaRPr sz="2025" b="1">
              <a:solidFill>
                <a:srgbClr val="F4F7F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62000" y="1619250"/>
            <a:ext cx="3194050" cy="3754120"/>
          </a:xfrm>
          <a:prstGeom prst="roundRect">
            <a:avLst>
              <a:gd name="adj" fmla="val 2424"/>
            </a:avLst>
          </a:prstGeom>
          <a:solidFill>
            <a:srgbClr val="08141A"/>
          </a:solidFill>
          <a:ln w="0">
            <a:solidFill>
              <a:srgbClr val="E9F7F7"/>
            </a:solidFill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66775" y="1724025"/>
            <a:ext cx="2933700" cy="3505200"/>
          </a:xfrm>
          <a:prstGeom prst="roundRect">
            <a:avLst>
              <a:gd name="adj" fmla="val 2597"/>
            </a:avLst>
          </a:prstGeom>
          <a:solidFill>
            <a:srgbClr val="071015"/>
          </a:solidFill>
          <a:ln w="0"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095375" y="2400300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00" b="1">
                <a:solidFill>
                  <a:srgbClr val="EAF4F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EAF4F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CSE-CIC-IDS2018</a:t>
            </a:r>
            <a:endParaRPr sz="2100" b="1">
              <a:solidFill>
                <a:srgbClr val="EAF4F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23950" y="3009900"/>
            <a:ext cx="24193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75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75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3,5 TRIỆU</a:t>
            </a:r>
            <a:endParaRPr sz="2475" b="1">
              <a:solidFill>
                <a:srgbClr val="B8E8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2475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475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LUỒNG MẠNG</a:t>
            </a:r>
            <a:endParaRPr sz="2475" b="1">
              <a:solidFill>
                <a:srgbClr val="B8E8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143000" y="41148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>
                <a:solidFill>
                  <a:srgbClr val="C6DA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C6DA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78 đặc trưng chuẩn hóa</a:t>
            </a:r>
            <a:endParaRPr sz="1350">
              <a:solidFill>
                <a:srgbClr val="C6DA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350">
                <a:solidFill>
                  <a:srgbClr val="C6DAD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C6DAD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 nhãn phân loại</a:t>
            </a:r>
            <a:endParaRPr sz="1350">
              <a:solidFill>
                <a:srgbClr val="C6DAD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71550" y="5638800"/>
            <a:ext cx="272415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i="1">
                <a:solidFill>
                  <a:srgbClr val="A6C1C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i="1">
                <a:solidFill>
                  <a:srgbClr val="A6C1C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dữ liệu cho thực nghiệm RQ1</a:t>
            </a:r>
            <a:endParaRPr sz="1050" i="1">
              <a:solidFill>
                <a:srgbClr val="A6C1C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3905250" y="2514600"/>
            <a:ext cx="1790700" cy="0"/>
          </a:xfrm>
          <a:prstGeom prst="line">
            <a:avLst/>
          </a:prstGeom>
          <a:ln w="14288">
            <a:solidFill>
              <a:srgbClr val="92D8DD"/>
            </a:solidFill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3905250" y="3676650"/>
            <a:ext cx="1790700" cy="0"/>
          </a:xfrm>
          <a:prstGeom prst="line">
            <a:avLst/>
          </a:prstGeom>
          <a:ln w="14288">
            <a:solidFill>
              <a:srgbClr val="92D8DD"/>
            </a:solidFill>
          </a:ln>
        </p:spPr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3905250" y="4838700"/>
            <a:ext cx="1790700" cy="0"/>
          </a:xfrm>
          <a:prstGeom prst="line">
            <a:avLst/>
          </a:prstGeom>
          <a:ln w="14288">
            <a:solidFill>
              <a:srgbClr val="92D8DD"/>
            </a:solidFill>
          </a:ln>
        </p:spPr>
      </p:sp>
      <p:sp>
        <p:nvSpPr>
          <p:cNvPr id="15" name="Oval 14"/>
          <p:cNvSpPr>
            <a:spLocks noGrp="1"/>
          </p:cNvSpPr>
          <p:nvPr/>
        </p:nvSpPr>
        <p:spPr>
          <a:xfrm>
            <a:off x="5591810" y="2060575"/>
            <a:ext cx="838200" cy="838200"/>
          </a:xfrm>
          <a:prstGeom prst="ellipse">
            <a:avLst/>
          </a:prstGeom>
          <a:solidFill>
            <a:srgbClr val="204B56"/>
          </a:solidFill>
          <a:ln w="0">
            <a:noFill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791200" y="2273300"/>
            <a:ext cx="887095" cy="336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950" b="1">
              <a:solidFill>
                <a:srgbClr val="B8E8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858000" y="2066925"/>
            <a:ext cx="423862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CHUẨN HÓA DỮ LIỆU</a:t>
            </a:r>
            <a:endParaRPr sz="1500" b="1">
              <a:solidFill>
                <a:srgbClr val="F1F7F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858000" y="241935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3,5 triệu luồng mạng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78 đặc trưng đầu vào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5591810" y="3218815"/>
            <a:ext cx="838200" cy="838200"/>
          </a:xfrm>
          <a:prstGeom prst="ellipse">
            <a:avLst/>
          </a:prstGeom>
          <a:solidFill>
            <a:srgbClr val="204B56"/>
          </a:solidFill>
          <a:ln w="0">
            <a:noFill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808345" y="3446145"/>
            <a:ext cx="8382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950" b="1">
              <a:solidFill>
                <a:srgbClr val="B8E8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858000" y="3228975"/>
            <a:ext cx="423862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CHIA TẬP PHÂN TẦNG</a:t>
            </a:r>
            <a:endParaRPr sz="1500" b="1">
              <a:solidFill>
                <a:srgbClr val="F1F7F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858000" y="358140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Train: 2,8 triệu (80%)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độc lập: 700.000 (20%)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5664200" y="4377055"/>
            <a:ext cx="838200" cy="838200"/>
          </a:xfrm>
          <a:prstGeom prst="ellipse">
            <a:avLst/>
          </a:prstGeom>
          <a:solidFill>
            <a:srgbClr val="204B56"/>
          </a:solidFill>
          <a:ln w="0">
            <a:noFill/>
          </a:ln>
        </p:spPr>
        <p:txBody>
          <a:bodyPr/>
          <a:p>
            <a:endParaRPr lang="en-US"/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5808345" y="4604385"/>
            <a:ext cx="8382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B8E8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950" b="1">
              <a:solidFill>
                <a:srgbClr val="B8E8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858000" y="4391025"/>
            <a:ext cx="4238625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1F7F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BẢO TOÀN LỚP HIẾM</a:t>
            </a:r>
            <a:endParaRPr sz="1500" b="1">
              <a:solidFill>
                <a:srgbClr val="F1F7F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6858000" y="4743450"/>
            <a:ext cx="4333875" cy="4667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Giữ đúng tỷ lệ 80/20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def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C7DC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SQLi, XSS, Web BF, LOIC-UDP</a:t>
            </a:r>
            <a:endParaRPr sz="1275">
              <a:solidFill>
                <a:srgbClr val="C7DC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5238750" y="5915025"/>
            <a:ext cx="6048375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>
                <a:solidFill>
                  <a:srgbClr val="D2EEF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050">
              <a:solidFill>
                <a:srgbClr val="D2EEF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762000" y="6457950"/>
            <a:ext cx="4953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>
                <a:solidFill>
                  <a:srgbClr val="8DB4B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900">
              <a:solidFill>
                <a:srgbClr val="8DB4B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WPS Presentation</Application>
  <PresentationFormat>Converted Presentation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Thanh nguyen</cp:lastModifiedBy>
  <cp:revision>1</cp:revision>
  <dcterms:created xsi:type="dcterms:W3CDTF">2026-09-20T17:08:07Z</dcterms:created>
  <dcterms:modified xsi:type="dcterms:W3CDTF">2026-09-20T17:08:07Z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A883D337E93B4798BD9B800D2A3DA9BB_12</vt:lpwstr>
  </property>
</Properties>
</file>