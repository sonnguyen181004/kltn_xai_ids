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331aafbaa84308" /><Relationship Type="http://schemas.openxmlformats.org/officeDocument/2006/relationships/extended-properties" Target="/docProps/app.xml" Id="Rd8ce4593baca4d0a" /><Relationship Type="http://schemas.openxmlformats.org/officeDocument/2006/relationships/officeDocument" Target="/ppt/presentation.xml" Id="Rc3a332ef53a547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88b24b2b4743f5"/>
  </p:sldMasterIdLst>
  <p:notesMasterIdLst>
    <p:notesMasterId xmlns:r="http://schemas.openxmlformats.org/officeDocument/2006/relationships" r:id="Rc44e35541bcc471c"/>
  </p:notesMasterIdLst>
  <p:sldIdLst>
    <p:sldId xmlns:r="http://schemas.openxmlformats.org/officeDocument/2006/relationships" id="256" r:id="Rfd3d320cad324205"/>
    <p:sldId xmlns:r="http://schemas.openxmlformats.org/officeDocument/2006/relationships" id="257" r:id="Rd87a2b2b7a24449a"/>
    <p:sldId xmlns:r="http://schemas.openxmlformats.org/officeDocument/2006/relationships" id="258" r:id="Rbe732d787f354ff9"/>
    <p:sldId xmlns:r="http://schemas.openxmlformats.org/officeDocument/2006/relationships" id="259" r:id="Rb9ecba21f6d94fb8"/>
    <p:sldId xmlns:r="http://schemas.openxmlformats.org/officeDocument/2006/relationships" id="260" r:id="R6e04062a476d4d75"/>
    <p:sldId xmlns:r="http://schemas.openxmlformats.org/officeDocument/2006/relationships" id="261" r:id="Rc4651fa0ee0e42c6"/>
    <p:sldId xmlns:r="http://schemas.openxmlformats.org/officeDocument/2006/relationships" id="262" r:id="R0b0ea1477de24ba7"/>
    <p:sldId xmlns:r="http://schemas.openxmlformats.org/officeDocument/2006/relationships" id="263" r:id="Rb66a4df449f94d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52ccd2e316408b" /><Relationship Type="http://schemas.openxmlformats.org/officeDocument/2006/relationships/slideMaster" Target="/ppt/slideMasters/slideMaster1.xml" Id="R1f88b24b2b4743f5" /><Relationship Type="http://schemas.openxmlformats.org/officeDocument/2006/relationships/notesMaster" Target="/ppt/notesMasters/notesMaster1.xml" Id="Rc44e35541bcc471c" /><Relationship Type="http://schemas.openxmlformats.org/officeDocument/2006/relationships/presProps" Target="/ppt/presProps.xml" Id="R7f70b1f871d34dad" /><Relationship Type="http://schemas.openxmlformats.org/officeDocument/2006/relationships/tableStyles" Target="/ppt/tableStyles.xml" Id="Rb98ceaeb86604e43" /><Relationship Type="http://schemas.openxmlformats.org/officeDocument/2006/relationships/slide" Target="/ppt/slides/slide1.xml" Id="Rfd3d320cad324205" /><Relationship Type="http://schemas.openxmlformats.org/officeDocument/2006/relationships/slide" Target="/ppt/slides/slide2.xml" Id="Rd87a2b2b7a24449a" /><Relationship Type="http://schemas.openxmlformats.org/officeDocument/2006/relationships/slide" Target="/ppt/slides/slide3.xml" Id="Rbe732d787f354ff9" /><Relationship Type="http://schemas.openxmlformats.org/officeDocument/2006/relationships/slide" Target="/ppt/slides/slide4.xml" Id="Rb9ecba21f6d94fb8" /><Relationship Type="http://schemas.openxmlformats.org/officeDocument/2006/relationships/slide" Target="/ppt/slides/slide5.xml" Id="R6e04062a476d4d75" /><Relationship Type="http://schemas.openxmlformats.org/officeDocument/2006/relationships/slide" Target="/ppt/slides/slide6.xml" Id="Rc4651fa0ee0e42c6" /><Relationship Type="http://schemas.openxmlformats.org/officeDocument/2006/relationships/slide" Target="/ppt/slides/slide7.xml" Id="R0b0ea1477de24ba7" /><Relationship Type="http://schemas.openxmlformats.org/officeDocument/2006/relationships/slide" Target="/ppt/slides/slide8.xml" Id="Rb66a4df449f9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9d94a4869e4e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136495a224406" /><Relationship Type="http://schemas.openxmlformats.org/officeDocument/2006/relationships/notesMaster" Target="/ppt/notesMasters/notesMaster1.xml" Id="R2ceb1ad069b746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cd9fd1f3ee472f" /><Relationship Type="http://schemas.openxmlformats.org/officeDocument/2006/relationships/notesMaster" Target="/ppt/notesMasters/notesMaster1.xml" Id="R9a5dae11185d45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d76514e7774a00" /><Relationship Type="http://schemas.openxmlformats.org/officeDocument/2006/relationships/notesMaster" Target="/ppt/notesMasters/notesMaster1.xml" Id="R4e0b0b18688743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1a8417c7bd4f32" /><Relationship Type="http://schemas.openxmlformats.org/officeDocument/2006/relationships/notesMaster" Target="/ppt/notesMasters/notesMaster1.xml" Id="Rf15dcaf3f100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5f4862dbd4cb1" /><Relationship Type="http://schemas.openxmlformats.org/officeDocument/2006/relationships/notesMaster" Target="/ppt/notesMasters/notesMaster1.xml" Id="R6d3f0a63c42746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c4c43720f74cf9" /><Relationship Type="http://schemas.openxmlformats.org/officeDocument/2006/relationships/notesMaster" Target="/ppt/notesMasters/notesMaster1.xml" Id="R0697810ea3c2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90c0ac859c4109" /><Relationship Type="http://schemas.openxmlformats.org/officeDocument/2006/relationships/notesMaster" Target="/ppt/notesMasters/notesMaster1.xml" Id="Rc9d9e96a52944b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edb67f3cfc49ee" /><Relationship Type="http://schemas.openxmlformats.org/officeDocument/2006/relationships/notesMaster" Target="/ppt/notesMasters/notesMaster1.xml" Id="R21b78b2fb80641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Bao_Cao_Tong_Hop_Thuc_Nghiem_RQ1_RandomForest_XGBoost.docx, mục 1 và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Bao_Cao_Tong_Hop_Thuc_Nghiem_RQ1_RandomForest_XGBoost.docx, mục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Tong_hop_Random_Forest.docx, mục 2–4. Best CV Macro-F1 = 0,8464 trên tập tuning, không phải kết quả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Tong_hop_Random_Forest.docx, mục 5–6. Biểu đồ dùng kết quả test độc lập 700.000 mẫu.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Bao_Cao_Thuc_Nghiem_RQ1_XGBoost.docx, bảng quét 7 cấu hình. Cấu hình depth=8, lr=0,08 được chọn vì cân bằng hiệu năng và chi phí tính toán.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Bao_Cao_Thuc_Nghiem_RQ1_XGBoost.docx, bảng hiệu năng chính thức và báo cáo theo 15 lớp.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Bao_Cao_Tong_Hop_Thuc_Nghiem_RQ1_RandomForest_XGBoost.docx, bảng so sánh mục 3. FPR RF ≈7,88%; XGBoost=5,7481%.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Bao_Cao_Thuc_Nghiem_RQ1_XGBoost.docx, mục 5.1–5.2; Bao_Cao_Tong_Hop_Thuc_Nghiem_RQ1_RandomForest_XGBoost.docx, mục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ab31e61984f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64cfc3f8f749e8" /><Relationship Type="http://schemas.openxmlformats.org/officeDocument/2006/relationships/slideLayout" Target="/ppt/slideLayouts/slideLayout1.xml" Id="R2493561d6dbc4d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3561d6dbc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5a94bdb4b498d" /><Relationship Type="http://schemas.openxmlformats.org/officeDocument/2006/relationships/notesSlide" Target="/ppt/notesSlides/notesSlide1.xml" Id="R07187f26bfd347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64effc0744c3c" /><Relationship Type="http://schemas.openxmlformats.org/officeDocument/2006/relationships/notesSlide" Target="/ppt/notesSlides/notesSlide2.xml" Id="R4c7a4fc4566645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91e772cf74495" /><Relationship Type="http://schemas.openxmlformats.org/officeDocument/2006/relationships/notesSlide" Target="/ppt/notesSlides/notesSlide3.xml" Id="R07e6f051d495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a720f59c44385" /><Relationship Type="http://schemas.openxmlformats.org/officeDocument/2006/relationships/chart" Target="/ppt/slides/charts/chart1.xml" Id="Rdbf9877924bc4669" /><Relationship Type="http://schemas.openxmlformats.org/officeDocument/2006/relationships/notesSlide" Target="/ppt/notesSlides/notesSlide4.xml" Id="R6a126be16a88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4a3a517704c5e" /><Relationship Type="http://schemas.openxmlformats.org/officeDocument/2006/relationships/chart" Target="/ppt/slides/charts/chart2.xml" Id="R4299e7e03ab34aff" /><Relationship Type="http://schemas.openxmlformats.org/officeDocument/2006/relationships/notesSlide" Target="/ppt/notesSlides/notesSlide5.xml" Id="R8c33ddef1e4c4a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2b97d91404b98" /><Relationship Type="http://schemas.openxmlformats.org/officeDocument/2006/relationships/notesSlide" Target="/ppt/notesSlides/notesSlide6.xml" Id="R3faa07f1b13e49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4a21c10b4558" /><Relationship Type="http://schemas.openxmlformats.org/officeDocument/2006/relationships/chart" Target="/ppt/slides/charts/chart3.xml" Id="R92154a6da0d040de" /><Relationship Type="http://schemas.openxmlformats.org/officeDocument/2006/relationships/notesSlide" Target="/ppt/notesSlides/notesSlide7.xml" Id="R47070aff8d9d47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fedcf86dd4278" /><Relationship Type="http://schemas.openxmlformats.org/officeDocument/2006/relationships/notesSlide" Target="/ppt/notesSlides/notesSlide8.xml" Id="R3b23339ab8b7417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 RF</c:v>
          </c:tx>
          <c:spPr>
            <a:solidFill xmlns:a="http://schemas.openxmlformats.org/drawingml/2006/main">
              <a:srgbClr val="FF9B86"/>
            </a:solidFill>
          </c:spPr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86.12</c:v>
                </c:pt>
                <c:pt idx="1">
                  <c:v>71.17</c:v>
                </c:pt>
                <c:pt idx="2">
                  <c:v>73.17</c:v>
                </c:pt>
                <c:pt idx="3">
                  <c:v>90.55</c:v>
                </c:pt>
              </c:numCache>
            </c:numRef>
          </c:val>
        </c:ser>
        <c:ser>
          <c:idx val="1"/>
          <c:order val="1"/>
          <c:tx>
            <c:v>RF Tuned</c:v>
          </c:tx>
          <c:spPr>
            <a:solidFill xmlns:a="http://schemas.openxmlformats.org/drawingml/2006/main">
              <a:srgbClr val="71D5DE"/>
            </a:solidFill>
          </c:spPr>
          <c:cat>
            <c:strRef>
              <c:f>'Chart Data'!$C$2:$C$5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93.17</c:v>
                </c:pt>
                <c:pt idx="1">
                  <c:v>78.65</c:v>
                </c:pt>
                <c:pt idx="2">
                  <c:v>80.81</c:v>
                </c:pt>
                <c:pt idx="3">
                  <c:v>94.77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0F8F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434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7151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B8CDD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7151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Macro F1</c:v>
          </c:tx>
          <c:spPr>
            <a:solidFill xmlns:a="http://schemas.openxmlformats.org/drawingml/2006/main">
              <a:srgbClr val="71D5DE"/>
            </a:solidFill>
          </c:spPr>
          <c:cat>
            <c:strRef>
              <c:f>'Chart Data'!$A$2:$A$8</c:f>
              <c:strCache>
                <c:ptCount val="7"/>
                <c:pt idx="0">
                  <c:v>4/.05</c:v>
                </c:pt>
                <c:pt idx="1">
                  <c:v>6/.05</c:v>
                </c:pt>
                <c:pt idx="2">
                  <c:v>6/.08</c:v>
                </c:pt>
                <c:pt idx="3">
                  <c:v>8/.05</c:v>
                </c:pt>
                <c:pt idx="4">
                  <c:v>8/.08</c:v>
                </c:pt>
                <c:pt idx="5">
                  <c:v>8/.10</c:v>
                </c:pt>
                <c:pt idx="6">
                  <c:v>12/.08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84.56</c:v>
                </c:pt>
                <c:pt idx="1">
                  <c:v>85.27</c:v>
                </c:pt>
                <c:pt idx="2">
                  <c:v>85.68</c:v>
                </c:pt>
                <c:pt idx="3">
                  <c:v>85.75</c:v>
                </c:pt>
                <c:pt idx="4">
                  <c:v>85.81</c:v>
                </c:pt>
                <c:pt idx="5">
                  <c:v>85.94</c:v>
                </c:pt>
                <c:pt idx="6">
                  <c:v>85.95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0F8F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434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7151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7151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RF Tuned</c:v>
          </c:tx>
          <c:spPr>
            <a:solidFill xmlns:a="http://schemas.openxmlformats.org/drawingml/2006/main">
              <a:srgbClr val="FF9B86"/>
            </a:solidFill>
          </c:spPr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93.17</c:v>
                </c:pt>
                <c:pt idx="1">
                  <c:v>78.65</c:v>
                </c:pt>
                <c:pt idx="2">
                  <c:v>80.81</c:v>
                </c:pt>
                <c:pt idx="3">
                  <c:v>94.77</c:v>
                </c:pt>
              </c:numCache>
            </c:numRef>
          </c:val>
        </c:ser>
        <c:ser>
          <c:idx val="1"/>
          <c:order val="1"/>
          <c:tx>
            <c:v>XGBoost Tuned</c:v>
          </c:tx>
          <c:spPr>
            <a:solidFill xmlns:a="http://schemas.openxmlformats.org/drawingml/2006/main">
              <a:srgbClr val="91D6A3"/>
            </a:solidFill>
          </c:spPr>
          <c:cat>
            <c:strRef>
              <c:f>'Chart Data'!$C$2:$C$5</c:f>
              <c:strCache>
                <c:ptCount val="4"/>
                <c:pt idx="0">
                  <c:v>Accuracy</c:v>
                </c:pt>
                <c:pt idx="1">
                  <c:v>Macro Precision</c:v>
                </c:pt>
                <c:pt idx="2">
                  <c:v>Macro F1</c:v>
                </c:pt>
                <c:pt idx="3">
                  <c:v>Weighted F1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97.91</c:v>
                </c:pt>
                <c:pt idx="1">
                  <c:v>90.84</c:v>
                </c:pt>
                <c:pt idx="2">
                  <c:v>85.81</c:v>
                </c:pt>
                <c:pt idx="3">
                  <c:v>97.32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0F8F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434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65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7151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B8CDD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7151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B2405-0CE7-4CD3-86B2-1FD7721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9F3C9-CA7F-4B2F-A42B-2E19236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Câu hỏi nghiên cứu và nguyên tắc đánh giá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64969-5863-4069-8AB0-736CC34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5C097-B07E-4DD8-BCB2-88994E20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1DD55-EB8B-45FE-880A-050E4ECB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8CDD1"/>
                </a:solidFill>
                <a:latin typeface="Arial"/>
                <a:ea typeface="Arial"/>
                <a:cs typeface="Arial"/>
              </a:rPr>
              <a:t>RQ1 đánh giá khả năng phát hiện và phân loại 15 lớp lưu lượng mạng của Random Forest và XGBoost sau tinh chỉnh siêu tham số.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F56A2-F4C6-4B94-8F38-96847A71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C259B-CBB1-4352-8160-B846C6DD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431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3,5 triệu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65ADA-7B10-4CDE-A61C-99C0C242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28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luồng mạng đã chuẩn hóa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449FB-2608-448C-8B8A-8F788AC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81C6F-DE72-4AEB-B056-4950AC6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2D119-6C1B-481A-A5D7-3AEC3B1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2892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nhãn phân loại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2CF3C-6939-4B6D-8002-AB097AD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71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1EDE2-359A-47BF-9F90-CBAE59DF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80 /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6C92E-862F-4F9A-B491-49D30FE5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28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train / test phân tầng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56F75-4FAE-47A0-A74E-B8181E9E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BCD1A-A1DA-4D15-967C-429604BA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4122D-53BB-4960-96B3-2AD2CB2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Benign trong tập 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40CCB-5275-4400-B2A0-C18F5706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1441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6D3C2-2607-4103-AB61-59764451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Thước đo chính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680C3-1CAE-45BE-82CA-35C0A6FB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và Macro Precision đánh giá công bằng các lớp hiếm. FPR trên Benign đo mức cảnh báo giả khi vận hành NIDS.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96375-5CBE-417F-A8A9-584A6895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Quy tắc thực nghiệm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84F0B-34D3-476A-9A86-CB8B881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DD1"/>
                </a:solidFill>
                <a:latin typeface="Arial"/>
                <a:ea typeface="Arial"/>
                <a:cs typeface="Arial"/>
              </a:rPr>
              <a:t>Tập test 700.000 dòng được cô lập hoàn toàn khỏi tiền xử lý, huấn luyện và tinh chỉnh tham số.</a:t>
            </a:r>
          </a:p>
        </p:txBody>
      </p:sp>
    </p:spTree>
    <p:extLst>
      <p:ext uri="{BB962C8B-B14F-4D97-AF65-F5344CB8AC3E}">
        <p14:creationId xmlns:p14="http://schemas.microsoft.com/office/powerpoint/2010/main" val="2046235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8FBE7-FE58-4BBF-B23A-E1CCE234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CF74B-D1D1-469C-BBAE-B994E603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Dataset và quy trình xử lý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7D612-E6A2-4789-B4C2-F343707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A0D33-9123-4C4E-8266-BB62E65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04069-A58F-44F3-8A06-21551337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9131A"/>
          </a:solidFill>
          <a:ln xmlns:a="http://schemas.openxmlformats.org/drawingml/2006/main" w="28575">
            <a:solidFill>
              <a:srgbClr val="D7F4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3E32D-256F-407B-8B6D-08F01F4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CSE-CIC-IDS2018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27BAD-8F1C-484E-998D-99B01E33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3,5 TRIỆU</a:t>
            </a:r>
          </a:p>
          <a:p xmlns:a="http://schemas.openxmlformats.org/drawingml/2006/main">
            <a:pPr>
              <a:defRPr sz="2325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LUỒNG MẠNG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AD526-B3C5-4306-B5D7-E6CA438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78 đặc trưng chuẩn hóa</a:t>
            </a:r>
          </a:p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15 nhãn phân loại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8A00B-CF81-45CF-8CFD-7D9A84FD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72C84-A1C0-4078-B51F-85504DFE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A7DA4-0CF4-4754-A147-D4A0FCE0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8117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Chuẩn hóa dữ liệu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C5CD0-798A-4BB6-9ECC-284EF58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3,5 triệu luồng · 78 đặc trưng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FC54E-D5C8-4B30-B121-BE78C9C4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A7FB6-AA3D-451A-BE54-150283C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337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EE201-84EC-47CD-8AC7-336A5292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Chia tập phân tầng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C9FAD-4B5E-4C12-BBD3-657B7FD0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2,8 triệu train · 700.000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19AC7-CB6D-4D2A-AEB6-70B745A7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A12AF-2EDE-4CE1-8EE0-D272A79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243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7F573-736B-4020-BD43-020C7698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624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Bảo toàn lớp hiếm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36CEA-E5FD-4D50-9EF5-577AAF8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Giữ đúng tỷ lệ 80/20 theo nhãn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FD771-8D42-48CB-BC7D-138C1771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76875"/>
            <a:ext cx="628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DACCA-911C-43C9-B51B-C62FE02B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38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2EE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2EEF0"/>
                </a:solidFill>
                <a:latin typeface="Arial"/>
                <a:ea typeface="Arial"/>
                <a:cs typeface="Arial"/>
              </a:rPr>
              <a:t>Test set không tham gia tiền xử lý hoặc tinh chỉnh siêu tham số</a:t>
            </a:r>
          </a:p>
        </p:txBody>
      </p:sp>
    </p:spTree>
    <p:extLst>
      <p:ext uri="{BB962C8B-B14F-4D97-AF65-F5344CB8AC3E}">
        <p14:creationId xmlns:p14="http://schemas.microsoft.com/office/powerpoint/2010/main" val="432901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78E73-E1D0-4A31-828F-B6ADF3A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A72B5-8B0C-428D-9791-D50E53B5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Random Forest: từ baseline đến cấu hình tối ưu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FC9F3-0415-47D4-A6B3-3D211283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34A9-AF63-4E49-B8FD-3B75F560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D87E5-1B27-4E6F-B0D7-AAFF61C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E2919-4609-4368-A2E6-637DFAE6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3B7F5-AC9D-4831-A7D7-7CC7D108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623C5-6808-4B6D-8F35-59A55FCD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50 cây · depth 20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F1: 73,17%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2610A-F33E-4157-8947-EC107586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7B8BD-C798-4C91-9CEE-A385F2DC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E1857-E951-4C59-9CF1-73EC3BA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71CDC-05E0-47FC-9919-74425DBE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Tập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452EA-5B56-4C6C-9DDE-4FC84F1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400.000 mẫu phân tầng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Bổ sung lớp cực hiếm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49434-A3E9-446A-8EE1-61204676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098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63753-7C6C-4FAF-9543-7DFCEC4B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939C1-E30F-4B1F-9E6E-3A750231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18B70-F49B-4D1B-9A06-BD2A464C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RandomizedSearchCV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B8DDA-45C1-4033-8CF4-D6D4B4C9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6 cấu hình ngẫu nhiên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3-fold CV · f1_macro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8F5AA-2C98-4779-B2C5-2C783BBA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1D5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24098-38FD-421D-B2F6-C0138FA5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24111-0DCE-40B7-9359-1EF1AA69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BEF05-5F03-479B-BFD5-B90A4267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Huấn luyện full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4199F-7AD2-45A9-8755-6A299904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2,8 triệu mẫu</a:t>
            </a:r>
          </a:p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Đánh giá trên 700.000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AB45F-DC6B-47D2-BBC5-38434DBA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334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517A2-9C2A-4335-94F2-44CE0C4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Không gian tìm kiếm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0F522-9751-498E-AD06-EF4E4B3E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91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n_estimators: 30, 50, 80     ·     max_depth: 12, 20, 28     ·     min_samples_split: 5, 10     ·     min_samples_leaf: 2,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BAB5E-B6BD-43FD-8011-37ACC34A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Cấu hình chọn: 80 cây · depth 28 · split 5 · leaf 2 · max_features=sqrt · class_weight=balanced_subsample</a:t>
            </a:r>
          </a:p>
        </p:txBody>
      </p:sp>
    </p:spTree>
    <p:extLst>
      <p:ext uri="{BB962C8B-B14F-4D97-AF65-F5344CB8AC3E}">
        <p14:creationId xmlns:p14="http://schemas.microsoft.com/office/powerpoint/2010/main" val="154724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806DD-BC79-4797-AAE9-E191134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5667D-9158-49FD-B78C-2BDBD46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Random Forest: tinh chỉnh cải thiện rõ Macro F1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8D40D-38AB-439F-96FC-16A95DA5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0FD5B-B1AF-453A-AC9A-9E8A38A6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6572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f9877924bc466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6A6E2-E79D-4CA1-9851-24FD0A91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3095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BE491-CE47-4315-9C4F-6E313B9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1D6A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1D6A3"/>
                </a:solidFill>
                <a:latin typeface="Arial"/>
                <a:ea typeface="Arial"/>
                <a:cs typeface="Arial"/>
              </a:rPr>
              <a:t>+7,64 điểm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04F50-777A-4515-9A1A-267DBA54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sau tinh chỉnh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AA4C0-A74C-44C6-BA11-B6DA74B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95625"/>
            <a:ext cx="3095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7C45B-0059-46BD-A55E-BE26B70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Kết quả RF Tuned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FA468-9A29-4C9B-9750-7DDFA89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Accuracy 93,17%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Precision 78,65%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Recall 86,02%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80,81%</a:t>
            </a:r>
          </a:p>
        </p:txBody>
      </p:sp>
    </p:spTree>
    <p:extLst>
      <p:ext uri="{BB962C8B-B14F-4D97-AF65-F5344CB8AC3E}">
        <p14:creationId xmlns:p14="http://schemas.microsoft.com/office/powerpoint/2010/main" val="782009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FEB1B-0402-4FAF-BE73-8417C75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5F943-B62F-4836-A9B8-33CA6A35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XGBoost: quét bảy cấu hình max_depth và learning_rate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08D6F-2A48-4F49-9876-62523636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17305-712B-467B-AED0-0560F221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1409700"/>
          <a:ext xmlns:a="http://schemas.openxmlformats.org/drawingml/2006/main" cx="7143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99e7e03ab34a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F2E70-D679-4A69-82F6-AF70E80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7FA8AF"/>
                </a:solidFill>
                <a:latin typeface="Arial"/>
                <a:ea typeface="Arial"/>
                <a:cs typeface="Arial"/>
              </a:rPr>
              <a:t>Nhãn trục: max_depth / learning_rate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5C025-79D7-4CDF-9EA9-C158DC90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79873-04BE-4294-A517-8089C76B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526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Cấu hình được chọn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7BCD8-64E3-4C14-9DB9-A2D494E5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14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depth = 8</a:t>
            </a:r>
          </a:p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learning_rate = 0,08</a:t>
            </a:r>
          </a:p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n_estimators = 100</a:t>
            </a:r>
          </a:p>
          <a:p xmlns:a="http://schemas.openxmlformats.org/drawingml/2006/main">
            <a:pPr>
              <a:defRPr sz="1275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0F8F9"/>
                </a:solidFill>
                <a:latin typeface="Arial"/>
                <a:ea typeface="Arial"/>
                <a:cs typeface="Arial"/>
              </a:rPr>
              <a:t>tree_method = hist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86915-791D-4D32-B735-BF8E3FE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619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FFE5D-A0B0-4685-ACFC-67ABB0F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Lý do lựa chọn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E9A15-3E31-488D-AA91-88ABBA4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 85,81%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FPR Benign 5,7481%</a:t>
            </a:r>
          </a:p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160,33 giây huấn luyện</a:t>
            </a:r>
          </a:p>
        </p:txBody>
      </p:sp>
    </p:spTree>
    <p:extLst>
      <p:ext uri="{BB962C8B-B14F-4D97-AF65-F5344CB8AC3E}">
        <p14:creationId xmlns:p14="http://schemas.microsoft.com/office/powerpoint/2010/main" val="1139307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0FECB-0BD7-4485-B6FD-23187BD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D3464-F041-4EF5-AA2E-17E92087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XGBoost tối ưu: hiệu năng trên tập test độc lập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205B7-978B-4455-BC68-B0AD218D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94F9E-16F1-4F86-BBB3-6CD611B8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5F323-763F-4879-A2CB-C7777466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1F30A-1224-409B-A6E0-CA85C04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97,91%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39C42-5891-4CFE-9D17-7619233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4F2E0-3580-47BE-BD0D-F178E10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F259C-F7FD-44E5-85FC-09258373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1D6A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1D6A3"/>
                </a:solidFill>
                <a:latin typeface="Arial"/>
                <a:ea typeface="Arial"/>
                <a:cs typeface="Arial"/>
              </a:rPr>
              <a:t>90,84%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CEB3A-BC62-4ACD-B06A-68FF8A5D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D0D6C-7137-41D8-A83E-E0589B2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19EAC-7695-4ADD-9553-0F5D925E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85,81%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F3E0B-E964-4EC6-B937-E35302D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80E66-21F0-4DF6-BFA8-16FB7EA9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85FFC-7E61-4B4B-8899-65718C17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9B8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9B86"/>
                </a:solidFill>
                <a:latin typeface="Arial"/>
                <a:ea typeface="Arial"/>
                <a:cs typeface="Arial"/>
              </a:rPr>
              <a:t>5,75%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25860-8248-4284-973D-D1B6EC72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336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8CDD1"/>
                </a:solidFill>
                <a:latin typeface="Arial"/>
                <a:ea typeface="Arial"/>
                <a:cs typeface="Arial"/>
              </a:rPr>
              <a:t>FPR trên Benign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8FC2E-AA78-4924-AD18-0F7BD301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4572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091D6-4911-4874-9590-8E199655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Các lớp nhận diện rất tốt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34B87-3982-43F2-B2E4-FFF62BF3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62400"/>
            <a:ext cx="3857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Bot, HOIC, Hulk, GoldenEye, Slowloris và SSH-Bruteforce đều đạt F1 xấp xỉ 100%.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B9AD8-ACDD-4D76-91EF-31644EF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500062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8CD68-1AA4-4C30-9C9F-C4C291FA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Ý nghĩa vận hành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12C76-1ABA-4AEE-A8A0-849B6A63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DD1"/>
                </a:solidFill>
                <a:latin typeface="Arial"/>
                <a:ea typeface="Arial"/>
                <a:cs typeface="Arial"/>
              </a:rPr>
              <a:t>Benign Recall đạt 99,77%. Mô hình nhận đúng 488.861 trong 490.000 mẫu lưu lượng bình thường.</a:t>
            </a:r>
          </a:p>
        </p:txBody>
      </p:sp>
    </p:spTree>
    <p:extLst>
      <p:ext uri="{BB962C8B-B14F-4D97-AF65-F5344CB8AC3E}">
        <p14:creationId xmlns:p14="http://schemas.microsoft.com/office/powerpoint/2010/main" val="1930799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DF8C4-5C10-4121-B610-F29F7A0E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6595C-0AAD-465D-9508-E3408750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XGBoost vượt Random Forest trên các chỉ số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A4C93-AD53-47D7-9945-782EB002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D93F7-62C7-4810-9A2E-73A8DEA7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700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154a6da0d040d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ED591-6A5D-411A-94EC-8B946EE5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2667000" cy="33147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5FF00-9E64-421F-94EF-2F2953C9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Chênh lệch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857AE-C79D-4E18-B5AC-783FF75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+4,74 điểm Accuracy</a:t>
            </a:r>
          </a:p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+12,19 điểm Macro Precision</a:t>
            </a:r>
          </a:p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+5,00 điểm Macro F1</a:t>
            </a:r>
          </a:p>
          <a:p xmlns:a="http://schemas.openxmlformats.org/drawingml/2006/main">
            <a:pPr>
              <a:defRPr sz="1350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0F8F9"/>
                </a:solidFill>
                <a:latin typeface="Arial"/>
                <a:ea typeface="Arial"/>
                <a:cs typeface="Arial"/>
              </a:rPr>
              <a:t>−2,13 điểm FPR Benign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200E5-F352-46C7-A573-2BEF5973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D6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D6A3"/>
                </a:solidFill>
                <a:latin typeface="Arial"/>
                <a:ea typeface="Arial"/>
                <a:cs typeface="Arial"/>
              </a:rPr>
              <a:t>XGBoost được chọn cho RQ2 và RQ3</a:t>
            </a:r>
          </a:p>
        </p:txBody>
      </p:sp>
    </p:spTree>
    <p:extLst>
      <p:ext uri="{BB962C8B-B14F-4D97-AF65-F5344CB8AC3E}">
        <p14:creationId xmlns:p14="http://schemas.microsoft.com/office/powerpoint/2010/main" val="2035400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3AC8A-AF28-462D-8CC0-441BA27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5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04FEF-D5A7-483E-9513-5640507C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8F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F8F9"/>
                </a:solidFill>
                <a:latin typeface="Arial"/>
                <a:ea typeface="Arial"/>
                <a:cs typeface="Arial"/>
              </a:rPr>
              <a:t>Các nhầm lẫn còn lại và cầu nối sang RQ2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17219-06E5-4F27-B21E-7D21B3C3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RQ1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B98F2-761B-4498-A713-F6B5D995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FA8A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A8AF"/>
                </a:solidFill>
                <a:latin typeface="Arial"/>
                <a:ea typeface="Arial"/>
                <a:cs typeface="Arial"/>
              </a:rPr>
              <a:t>CSE-CIC-IDS2018 · Báo cáo thực nghiệm 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1DB66-98C2-4C25-8CF7-2515980B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19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A2B3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64738-6630-4070-9826-4EF877B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B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86"/>
                </a:solidFill>
                <a:latin typeface="Arial"/>
                <a:ea typeface="Arial"/>
                <a:cs typeface="Arial"/>
              </a:rPr>
              <a:t>Infiltration → Benign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31E64-25C2-4106-BB6D-68A8A83F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84,01% mẫu Infiltration bị dự đoán là Benign. Lưu lượng vi mô gần với hành vi người dùng bình thường.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130AD-BE47-4011-8577-C496688A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19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67993-133F-49B9-8D31-B21FC3E8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SlowHTTPTest → FTP-BruteForce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47879-714F-494C-987F-E7A01EC7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62,36% mẫu SlowHTTPTest nhầm sang FTP-BruteForce. Hai loại đều có phiên dài và tốc độ truyền thấp.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4CCE5-8C85-4889-B257-0D8A26B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1019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7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6F509-E1BD-4E04-9BB2-C56CB23C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D5D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5DE"/>
                </a:solidFill>
                <a:latin typeface="Arial"/>
                <a:ea typeface="Arial"/>
                <a:cs typeface="Arial"/>
              </a:rPr>
              <a:t>SQL Injection → Web Brute Force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CD9D0-99A4-4A79-A941-AA026AE1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DD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DD1"/>
                </a:solidFill>
                <a:latin typeface="Arial"/>
                <a:ea typeface="Arial"/>
                <a:cs typeface="Arial"/>
              </a:rPr>
              <a:t>41,18% mẫu SQL Injection nhầm sang Web Brute Force. Lưu lượng HTTP/HTTPS có đặc trưng thống kê tương đồng.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A0C6A-ADCA-4008-815D-2DF6356C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191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4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1297F-C3FB-45EE-BDC9-55C7F7AE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292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2EE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2EEF0"/>
                </a:solidFill>
                <a:latin typeface="Arial"/>
                <a:ea typeface="Arial"/>
                <a:cs typeface="Arial"/>
              </a:rPr>
              <a:t>Các nhóm khó là mẫu trọng tâm để RQ2 dùng SHAP và LIME phân tích đặc trưng, độ ổn định và độ tin cậy của giải thích.</a:t>
            </a:r>
          </a:p>
        </p:txBody>
      </p:sp>
    </p:spTree>
    <p:extLst>
      <p:ext uri="{BB962C8B-B14F-4D97-AF65-F5344CB8AC3E}">
        <p14:creationId xmlns:p14="http://schemas.microsoft.com/office/powerpoint/2010/main" val="1374229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2026-09-20T16:57:41.3440000Z</dcterms:created>
  <dcterms:modified xsi:type="dcterms:W3CDTF">2026-09-20T16:57:41.3440000Z</dcterms:modified>
</coreProperties>
</file>