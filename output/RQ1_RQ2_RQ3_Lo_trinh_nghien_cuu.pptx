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2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3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271bb90feb34f14" /><Relationship Type="http://schemas.openxmlformats.org/officeDocument/2006/relationships/extended-properties" Target="/docProps/app.xml" Id="R9ff683a19d384afb" /><Relationship Type="http://schemas.openxmlformats.org/officeDocument/2006/relationships/officeDocument" Target="/ppt/presentation.xml" Id="R179f276d4e5048f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4b531720dd842b3"/>
  </p:sldMasterIdLst>
  <p:notesMasterIdLst>
    <p:notesMasterId xmlns:r="http://schemas.openxmlformats.org/officeDocument/2006/relationships" r:id="R422a716cb4ef41f0"/>
  </p:notesMasterIdLst>
  <p:sldIdLst>
    <p:sldId xmlns:r="http://schemas.openxmlformats.org/officeDocument/2006/relationships" id="256" r:id="Rdfd7fa430e8d49fc"/>
    <p:sldId xmlns:r="http://schemas.openxmlformats.org/officeDocument/2006/relationships" id="257" r:id="R5fdac36a4e0943bf"/>
    <p:sldId xmlns:r="http://schemas.openxmlformats.org/officeDocument/2006/relationships" id="258" r:id="R56444a02f72a43fa"/>
    <p:sldId xmlns:r="http://schemas.openxmlformats.org/officeDocument/2006/relationships" id="259" r:id="R2c133e27ea3e4611"/>
    <p:sldId xmlns:r="http://schemas.openxmlformats.org/officeDocument/2006/relationships" id="260" r:id="R524e08e7195b4800"/>
    <p:sldId xmlns:r="http://schemas.openxmlformats.org/officeDocument/2006/relationships" id="261" r:id="R53a79e61a58e4119"/>
    <p:sldId xmlns:r="http://schemas.openxmlformats.org/officeDocument/2006/relationships" id="262" r:id="Rdaab5b6305ea46e5"/>
    <p:sldId xmlns:r="http://schemas.openxmlformats.org/officeDocument/2006/relationships" id="263" r:id="R2b7b015693e4489c"/>
    <p:sldId xmlns:r="http://schemas.openxmlformats.org/officeDocument/2006/relationships" id="264" r:id="Rd9c30f757b6e4ad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10cd804bc2348e0" /><Relationship Type="http://schemas.openxmlformats.org/officeDocument/2006/relationships/slideMaster" Target="/ppt/slideMasters/slideMaster1.xml" Id="Rf4b531720dd842b3" /><Relationship Type="http://schemas.openxmlformats.org/officeDocument/2006/relationships/notesMaster" Target="/ppt/notesMasters/notesMaster1.xml" Id="R422a716cb4ef41f0" /><Relationship Type="http://schemas.openxmlformats.org/officeDocument/2006/relationships/presProps" Target="/ppt/presProps.xml" Id="R355b4336169544d2" /><Relationship Type="http://schemas.openxmlformats.org/officeDocument/2006/relationships/tableStyles" Target="/ppt/tableStyles.xml" Id="Rda3cfefedd4041f2" /><Relationship Type="http://schemas.openxmlformats.org/officeDocument/2006/relationships/slide" Target="/ppt/slides/slide1.xml" Id="Rdfd7fa430e8d49fc" /><Relationship Type="http://schemas.openxmlformats.org/officeDocument/2006/relationships/slide" Target="/ppt/slides/slide2.xml" Id="R5fdac36a4e0943bf" /><Relationship Type="http://schemas.openxmlformats.org/officeDocument/2006/relationships/slide" Target="/ppt/slides/slide3.xml" Id="R56444a02f72a43fa" /><Relationship Type="http://schemas.openxmlformats.org/officeDocument/2006/relationships/slide" Target="/ppt/slides/slide4.xml" Id="R2c133e27ea3e4611" /><Relationship Type="http://schemas.openxmlformats.org/officeDocument/2006/relationships/slide" Target="/ppt/slides/slide5.xml" Id="R524e08e7195b4800" /><Relationship Type="http://schemas.openxmlformats.org/officeDocument/2006/relationships/slide" Target="/ppt/slides/slide6.xml" Id="R53a79e61a58e4119" /><Relationship Type="http://schemas.openxmlformats.org/officeDocument/2006/relationships/slide" Target="/ppt/slides/slide7.xml" Id="Rdaab5b6305ea46e5" /><Relationship Type="http://schemas.openxmlformats.org/officeDocument/2006/relationships/slide" Target="/ppt/slides/slide8.xml" Id="R2b7b015693e4489c" /><Relationship Type="http://schemas.openxmlformats.org/officeDocument/2006/relationships/slide" Target="/ppt/slides/slide9.xml" Id="Rd9c30f757b6e4ad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7889ad0295a45f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ee20a5d8c274bbd" /><Relationship Type="http://schemas.openxmlformats.org/officeDocument/2006/relationships/notesMaster" Target="/ppt/notesMasters/notesMaster1.xml" Id="Rb09d2f88f2df467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d7716c1c4cc4098" /><Relationship Type="http://schemas.openxmlformats.org/officeDocument/2006/relationships/notesMaster" Target="/ppt/notesMasters/notesMaster1.xml" Id="R7ac7890e18ac408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18588fa635c40cb" /><Relationship Type="http://schemas.openxmlformats.org/officeDocument/2006/relationships/notesMaster" Target="/ppt/notesMasters/notesMaster1.xml" Id="Rc541f2274ccd401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69894c5f95f4dd7" /><Relationship Type="http://schemas.openxmlformats.org/officeDocument/2006/relationships/notesMaster" Target="/ppt/notesMasters/notesMaster1.xml" Id="Ra7ae45d60db6465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8f58294390c4b84" /><Relationship Type="http://schemas.openxmlformats.org/officeDocument/2006/relationships/notesMaster" Target="/ppt/notesMasters/notesMaster1.xml" Id="R9b82445b6c954d7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7820c217db04ce8" /><Relationship Type="http://schemas.openxmlformats.org/officeDocument/2006/relationships/notesMaster" Target="/ppt/notesMasters/notesMaster1.xml" Id="R8df924e6b89f470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4116a5910bf4f72" /><Relationship Type="http://schemas.openxmlformats.org/officeDocument/2006/relationships/notesMaster" Target="/ppt/notesMasters/notesMaster1.xml" Id="Rbe25c95df761488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e669843057e42d6" /><Relationship Type="http://schemas.openxmlformats.org/officeDocument/2006/relationships/notesMaster" Target="/ppt/notesMasters/notesMaster1.xml" Id="Rabfe7162593e43f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db5cc6f4ab14f85" /><Relationship Type="http://schemas.openxmlformats.org/officeDocument/2006/relationships/notesMaster" Target="/ppt/notesMasters/notesMaster1.xml" Id="R667e177a37f6471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Bao_Cao_Tong_Hop_Thuc_Nghiem_RQ1_RandomForest_XGBoost.docx, mục 1 và 1.1.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Bao_Cao_Tong_Hop_Thuc_Nghiem_RQ1_RandomForest_XGBoost.docx, mục 1.1.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Tong_hop_Random_Forest.docx, mục 2–4. Best CV Macro-F1 = 0,8464 trên tập tuning, không phải kết quả test.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Tong_hop_Random_Forest.docx, mục 5–6. Biểu đồ dùng kết quả test độc lập 700.000 mẫu.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Bao_Cao_Thuc_Nghiem_RQ1_XGBoost.docx, bảng quét 7 cấu hình. Cấu hình depth=8, lr=0,08 được chọn vì cân bằng hiệu năng và chi phí tính toán.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Bao_Cao_Thuc_Nghiem_RQ1_XGBoost.docx, bảng hiệu năng chính thức và báo cáo theo 15 lớp.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Bao_Cao_Tong_Hop_Thuc_Nghiem_RQ1_RandomForest_XGBoost.docx, bảng so sánh mục 3. FPR RF ≈7,88%; XGBoost=5,7481%.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Bao_Cao_Thuc_Nghiem_RQ1_XGBoost.docx, mục 5.1–5.2; Bao_Cao_Tong_Hop_Thuc_Nghiem_RQ1_RandomForest_XGBoost.docx, mục 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Bao_Cao_Ke_Hoach_RQ2_XAI_Day_Du.docx, mục 2, 5–8 và 12; trạng thái RQ2/RQ3 theo yêu cầu người dùng.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be2211134f46f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5df0ee8505145e2" /><Relationship Type="http://schemas.openxmlformats.org/officeDocument/2006/relationships/slideLayout" Target="/ppt/slideLayouts/slideLayout1.xml" Id="R0da2fbcec907422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da2fbcec907422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d897da201d470a" /><Relationship Type="http://schemas.openxmlformats.org/officeDocument/2006/relationships/notesSlide" Target="/ppt/notesSlides/notesSlide1.xml" Id="R305b8222765c4c2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b1b4f04bb64284" /><Relationship Type="http://schemas.openxmlformats.org/officeDocument/2006/relationships/notesSlide" Target="/ppt/notesSlides/notesSlide2.xml" Id="R353664c22bb5414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37266306bf4e37" /><Relationship Type="http://schemas.openxmlformats.org/officeDocument/2006/relationships/notesSlide" Target="/ppt/notesSlides/notesSlide3.xml" Id="R9d30dd1f830b4b9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dd62730b2b4ab1" /><Relationship Type="http://schemas.openxmlformats.org/officeDocument/2006/relationships/chart" Target="/ppt/slides/charts/chart1.xml" Id="R33dbda715edc40ee" /><Relationship Type="http://schemas.openxmlformats.org/officeDocument/2006/relationships/notesSlide" Target="/ppt/notesSlides/notesSlide4.xml" Id="R32b04b1cba3b47c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840144285548d2" /><Relationship Type="http://schemas.openxmlformats.org/officeDocument/2006/relationships/chart" Target="/ppt/slides/charts/chart2.xml" Id="R2a18473fec464221" /><Relationship Type="http://schemas.openxmlformats.org/officeDocument/2006/relationships/notesSlide" Target="/ppt/notesSlides/notesSlide5.xml" Id="Re159d5f919ea4ff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0d1273000645e7" /><Relationship Type="http://schemas.openxmlformats.org/officeDocument/2006/relationships/notesSlide" Target="/ppt/notesSlides/notesSlide6.xml" Id="Rb41ea83d947642b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f1f05d691149a5" /><Relationship Type="http://schemas.openxmlformats.org/officeDocument/2006/relationships/chart" Target="/ppt/slides/charts/chart3.xml" Id="Rb38719d3da0b416d" /><Relationship Type="http://schemas.openxmlformats.org/officeDocument/2006/relationships/notesSlide" Target="/ppt/notesSlides/notesSlide7.xml" Id="R1ae2f972a99447b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ba9371b6224d1d" /><Relationship Type="http://schemas.openxmlformats.org/officeDocument/2006/relationships/notesSlide" Target="/ppt/notesSlides/notesSlide8.xml" Id="Rd4a300de9b4c405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676da17fab4ffd" /><Relationship Type="http://schemas.openxmlformats.org/officeDocument/2006/relationships/notesSlide" Target="/ppt/notesSlides/notesSlide9.xml" Id="R84d7b17555f94fc3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Baseline RF</c:v>
          </c:tx>
          <c:spPr>
            <a:solidFill xmlns:a="http://schemas.openxmlformats.org/drawingml/2006/main">
              <a:srgbClr val="FF9B86"/>
            </a:solidFill>
          </c:spPr>
          <c:cat>
            <c:strRef>
              <c:f>'Chart Data'!$A$2:$A$5</c:f>
              <c:strCache>
                <c:ptCount val="4"/>
                <c:pt idx="0">
                  <c:v>Accuracy</c:v>
                </c:pt>
                <c:pt idx="1">
                  <c:v>Macro Precision</c:v>
                </c:pt>
                <c:pt idx="2">
                  <c:v>Macro F1</c:v>
                </c:pt>
                <c:pt idx="3">
                  <c:v>Weighted F1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86.12</c:v>
                </c:pt>
                <c:pt idx="1">
                  <c:v>71.17</c:v>
                </c:pt>
                <c:pt idx="2">
                  <c:v>73.17</c:v>
                </c:pt>
                <c:pt idx="3">
                  <c:v>90.55</c:v>
                </c:pt>
              </c:numCache>
            </c:numRef>
          </c:val>
        </c:ser>
        <c:ser>
          <c:idx val="1"/>
          <c:order val="1"/>
          <c:tx>
            <c:v>RF Tuned</c:v>
          </c:tx>
          <c:spPr>
            <a:solidFill xmlns:a="http://schemas.openxmlformats.org/drawingml/2006/main">
              <a:srgbClr val="71D5DE"/>
            </a:solidFill>
          </c:spPr>
          <c:cat>
            <c:strRef>
              <c:f>'Chart Data'!$C$2:$C$5</c:f>
              <c:strCache>
                <c:ptCount val="4"/>
                <c:pt idx="0">
                  <c:v>Accuracy</c:v>
                </c:pt>
                <c:pt idx="1">
                  <c:v>Macro Precision</c:v>
                </c:pt>
                <c:pt idx="2">
                  <c:v>Macro F1</c:v>
                </c:pt>
                <c:pt idx="3">
                  <c:v>Weighted F1</c:v>
                </c:pt>
              </c:strCache>
            </c:strRef>
          </c:cat>
          <c:val>
            <c:numRef>
              <c:f>'Chart Data'!$D$2:$D$5</c:f>
              <c:numCache>
                <c:formatCode>General</c:formatCode>
                <c:ptCount val="4"/>
                <c:pt idx="0">
                  <c:v>93.17</c:v>
                </c:pt>
                <c:pt idx="1">
                  <c:v>78.65</c:v>
                </c:pt>
                <c:pt idx="2">
                  <c:v>80.81</c:v>
                </c:pt>
                <c:pt idx="3">
                  <c:v>94.77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F0F8F9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6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3B657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B8CDD1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23434C"/>
              </a:solidFill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3B657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B8CDD1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20"/>
      </c:valAx>
      <c:spPr>
        <a:solidFill xmlns:a="http://schemas.openxmlformats.org/drawingml/2006/main">
          <a:srgbClr val="07151C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00">
              <a:solidFill>
                <a:srgbClr val="B8CDD1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07151C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Test Macro F1</c:v>
          </c:tx>
          <c:spPr>
            <a:solidFill xmlns:a="http://schemas.openxmlformats.org/drawingml/2006/main">
              <a:srgbClr val="71D5DE"/>
            </a:solidFill>
          </c:spPr>
          <c:cat>
            <c:strRef>
              <c:f>'Chart Data'!$A$2:$A$8</c:f>
              <c:strCache>
                <c:ptCount val="7"/>
                <c:pt idx="0">
                  <c:v>4/.05</c:v>
                </c:pt>
                <c:pt idx="1">
                  <c:v>6/.05</c:v>
                </c:pt>
                <c:pt idx="2">
                  <c:v>6/.08</c:v>
                </c:pt>
                <c:pt idx="3">
                  <c:v>8/.05</c:v>
                </c:pt>
                <c:pt idx="4">
                  <c:v>8/.08</c:v>
                </c:pt>
                <c:pt idx="5">
                  <c:v>8/.10</c:v>
                </c:pt>
                <c:pt idx="6">
                  <c:v>12/.08</c:v>
                </c:pt>
              </c:strCache>
            </c:strRef>
          </c:cat>
          <c:val>
            <c:numRef>
              <c:f>'Chart Data'!$B$2:$B$8</c:f>
              <c:numCache>
                <c:formatCode>General</c:formatCode>
                <c:ptCount val="7"/>
                <c:pt idx="0">
                  <c:v>84.56</c:v>
                </c:pt>
                <c:pt idx="1">
                  <c:v>85.27</c:v>
                </c:pt>
                <c:pt idx="2">
                  <c:v>85.68</c:v>
                </c:pt>
                <c:pt idx="3">
                  <c:v>85.75</c:v>
                </c:pt>
                <c:pt idx="4">
                  <c:v>85.81</c:v>
                </c:pt>
                <c:pt idx="5">
                  <c:v>85.94</c:v>
                </c:pt>
                <c:pt idx="6">
                  <c:v>85.95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F0F8F9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6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3B657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B8CDD1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23434C"/>
              </a:solidFill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3B657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B8CDD1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20"/>
      </c:valAx>
      <c:spPr>
        <a:solidFill xmlns:a="http://schemas.openxmlformats.org/drawingml/2006/main">
          <a:srgbClr val="07151C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07151C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RF Tuned</c:v>
          </c:tx>
          <c:spPr>
            <a:solidFill xmlns:a="http://schemas.openxmlformats.org/drawingml/2006/main">
              <a:srgbClr val="FF9B86"/>
            </a:solidFill>
          </c:spPr>
          <c:cat>
            <c:strRef>
              <c:f>'Chart Data'!$A$2:$A$5</c:f>
              <c:strCache>
                <c:ptCount val="4"/>
                <c:pt idx="0">
                  <c:v>Accuracy</c:v>
                </c:pt>
                <c:pt idx="1">
                  <c:v>Macro Precision</c:v>
                </c:pt>
                <c:pt idx="2">
                  <c:v>Macro F1</c:v>
                </c:pt>
                <c:pt idx="3">
                  <c:v>Weighted F1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93.17</c:v>
                </c:pt>
                <c:pt idx="1">
                  <c:v>78.65</c:v>
                </c:pt>
                <c:pt idx="2">
                  <c:v>80.81</c:v>
                </c:pt>
                <c:pt idx="3">
                  <c:v>94.77</c:v>
                </c:pt>
              </c:numCache>
            </c:numRef>
          </c:val>
        </c:ser>
        <c:ser>
          <c:idx val="1"/>
          <c:order val="1"/>
          <c:tx>
            <c:v>XGBoost Tuned</c:v>
          </c:tx>
          <c:spPr>
            <a:solidFill xmlns:a="http://schemas.openxmlformats.org/drawingml/2006/main">
              <a:srgbClr val="91D6A3"/>
            </a:solidFill>
          </c:spPr>
          <c:cat>
            <c:strRef>
              <c:f>'Chart Data'!$C$2:$C$5</c:f>
              <c:strCache>
                <c:ptCount val="4"/>
                <c:pt idx="0">
                  <c:v>Accuracy</c:v>
                </c:pt>
                <c:pt idx="1">
                  <c:v>Macro Precision</c:v>
                </c:pt>
                <c:pt idx="2">
                  <c:v>Macro F1</c:v>
                </c:pt>
                <c:pt idx="3">
                  <c:v>Weighted F1</c:v>
                </c:pt>
              </c:strCache>
            </c:strRef>
          </c:cat>
          <c:val>
            <c:numRef>
              <c:f>'Chart Data'!$D$2:$D$5</c:f>
              <c:numCache>
                <c:formatCode>General</c:formatCode>
                <c:ptCount val="4"/>
                <c:pt idx="0">
                  <c:v>97.91</c:v>
                </c:pt>
                <c:pt idx="1">
                  <c:v>90.84</c:v>
                </c:pt>
                <c:pt idx="2">
                  <c:v>85.81</c:v>
                </c:pt>
                <c:pt idx="3">
                  <c:v>97.32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F0F8F9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6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3B657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B8CDD1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23434C"/>
              </a:solidFill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3B657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B8CDD1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20"/>
      </c:valAx>
      <c:spPr>
        <a:solidFill xmlns:a="http://schemas.openxmlformats.org/drawingml/2006/main">
          <a:srgbClr val="07151C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00">
              <a:solidFill>
                <a:srgbClr val="B8CDD1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07151C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5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B4562FC-AF52-4E3C-9153-45F34F70B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D5D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F56932-F4B3-43B2-B74C-7459A0790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720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0F8F9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0F8F9"/>
                </a:solidFill>
                <a:latin typeface="Arial"/>
                <a:ea typeface="Arial"/>
                <a:cs typeface="Arial"/>
              </a:rPr>
              <a:t>Câu hỏi nghiên cứu và nguyên tắc đánh giá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6A1E99-61FD-4DD8-B20E-93B25709D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42925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71D5D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71D5DE"/>
                </a:solidFill>
                <a:latin typeface="Arial"/>
                <a:ea typeface="Arial"/>
                <a:cs typeface="Arial"/>
              </a:rPr>
              <a:t>RQ1  /  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F7F444-0A23-43B3-B66E-8A5B00FC8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960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7FA8A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7FA8AF"/>
                </a:solidFill>
                <a:latin typeface="Arial"/>
                <a:ea typeface="Arial"/>
                <a:cs typeface="Arial"/>
              </a:rPr>
              <a:t>CSE-CIC-IDS2018 · Báo cáo thực nghiệm RQ1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45A2A6-B870-4BB0-B1AD-15FD4CDA8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190625"/>
            <a:ext cx="971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B8CDD1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B8CDD1"/>
                </a:solidFill>
                <a:latin typeface="Arial"/>
                <a:ea typeface="Arial"/>
                <a:cs typeface="Arial"/>
              </a:rPr>
              <a:t>RQ1 đánh giá khả năng phát hiện và phân loại 15 lớp lưu lượng mạng của Random Forest và XGBoost sau tinh chỉnh siêu tham số.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89595A-4D01-479C-8109-83A42CC9B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71700"/>
            <a:ext cx="23812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102730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D7279D-EF9D-469A-81FF-0652A3C24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343150"/>
            <a:ext cx="2000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71D5DE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71D5DE"/>
                </a:solidFill>
                <a:latin typeface="Arial"/>
                <a:ea typeface="Arial"/>
                <a:cs typeface="Arial"/>
              </a:rPr>
              <a:t>3,5 triệu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7F781E-4AAF-456B-9E19-632D210E7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828925"/>
            <a:ext cx="2076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B8CDD1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B8CDD1"/>
                </a:solidFill>
                <a:latin typeface="Arial"/>
                <a:ea typeface="Arial"/>
                <a:cs typeface="Arial"/>
              </a:rPr>
              <a:t>luồng mạng đã chuẩn hóa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6DE2A4-B9CD-4225-B79E-FE62C433F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71700"/>
            <a:ext cx="20002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102730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C7B86B-61EE-410E-9CC8-55DA545D8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343150"/>
            <a:ext cx="1619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71D5DE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71D5DE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D8AD62-C056-4CAF-9FCD-0AEE8FBCB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828925"/>
            <a:ext cx="1695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B8CDD1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B8CDD1"/>
                </a:solidFill>
                <a:latin typeface="Arial"/>
                <a:ea typeface="Arial"/>
                <a:cs typeface="Arial"/>
              </a:rPr>
              <a:t>nhãn phân loại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6CE5D9-8CF7-4283-A451-D417D0FF9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171700"/>
            <a:ext cx="23812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102730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F0FF8F-ADE4-412D-9C03-024AFE3E9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343150"/>
            <a:ext cx="2000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71D5DE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71D5DE"/>
                </a:solidFill>
                <a:latin typeface="Arial"/>
                <a:ea typeface="Arial"/>
                <a:cs typeface="Arial"/>
              </a:rPr>
              <a:t>80 / 20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6BCE1C-2046-47B4-9B41-A9C3811DB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2828925"/>
            <a:ext cx="2076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B8CDD1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B8CDD1"/>
                </a:solidFill>
                <a:latin typeface="Arial"/>
                <a:ea typeface="Arial"/>
                <a:cs typeface="Arial"/>
              </a:rPr>
              <a:t>train / test phân tầng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CBA72D-4AFD-4C3B-8B08-F175A4781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171700"/>
            <a:ext cx="23812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102730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3D9661-3E1E-4478-AE17-18B78EC2F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343150"/>
            <a:ext cx="2000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71D5DE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71D5DE"/>
                </a:solidFill>
                <a:latin typeface="Arial"/>
                <a:ea typeface="Arial"/>
                <a:cs typeface="Arial"/>
              </a:rPr>
              <a:t>70%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9D6EE1-2882-4B18-8AA2-A52D3797B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828925"/>
            <a:ext cx="2076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B8CDD1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B8CDD1"/>
                </a:solidFill>
                <a:latin typeface="Arial"/>
                <a:ea typeface="Arial"/>
                <a:cs typeface="Arial"/>
              </a:rPr>
              <a:t>Benign trong tập train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FFBA70-F4B0-4330-908A-2335B426C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10000"/>
            <a:ext cx="10144125" cy="1762125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102730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DBE7AC-5FFC-46E9-B602-61F31E6B8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095750"/>
            <a:ext cx="2286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1D5D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1D5DE"/>
                </a:solidFill>
                <a:latin typeface="Arial"/>
                <a:ea typeface="Arial"/>
                <a:cs typeface="Arial"/>
              </a:rPr>
              <a:t>Thước đo chính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B464BC-BCCE-418D-8DC8-178F1AA91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14850"/>
            <a:ext cx="457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B8CDD1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B8CDD1"/>
                </a:solidFill>
                <a:latin typeface="Arial"/>
                <a:ea typeface="Arial"/>
                <a:cs typeface="Arial"/>
              </a:rPr>
              <a:t>Macro F1 và Macro Precision đánh giá công bằng các lớp hiếm. FPR trên Benign đo mức cảnh báo giả khi vận hành NIDS.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2DA4C0-5314-415A-8A88-B581D9FCB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95750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1D5D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1D5DE"/>
                </a:solidFill>
                <a:latin typeface="Arial"/>
                <a:ea typeface="Arial"/>
                <a:cs typeface="Arial"/>
              </a:rPr>
              <a:t>Quy tắc thực nghiệm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D396E0-7D5A-4BC8-AE08-2EA5FA8BB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514850"/>
            <a:ext cx="3905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B8CDD1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B8CDD1"/>
                </a:solidFill>
                <a:latin typeface="Arial"/>
                <a:ea typeface="Arial"/>
                <a:cs typeface="Arial"/>
              </a:rPr>
              <a:t>Tập test 700.000 dòng được cô lập hoàn toàn khỏi tiền xử lý, huấn luyện và tinh chỉnh tham số.</a:t>
            </a:r>
          </a:p>
        </p:txBody>
      </p:sp>
    </p:spTree>
    <p:extLst>
      <p:ext uri="{BB962C8B-B14F-4D97-AF65-F5344CB8AC3E}">
        <p14:creationId xmlns:p14="http://schemas.microsoft.com/office/powerpoint/2010/main" val="83167609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5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727A67F-C671-4B07-B998-EF81E1CC5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D5D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838517-C45F-4F86-BB7A-45383EBA1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720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0F8F9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0F8F9"/>
                </a:solidFill>
                <a:latin typeface="Arial"/>
                <a:ea typeface="Arial"/>
                <a:cs typeface="Arial"/>
              </a:rPr>
              <a:t>Dataset và quy trình xử lý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EAAA68-1E78-447F-8BFE-5F059243A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42925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71D5D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71D5DE"/>
                </a:solidFill>
                <a:latin typeface="Arial"/>
                <a:ea typeface="Arial"/>
                <a:cs typeface="Arial"/>
              </a:rPr>
              <a:t>RQ1  /  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7B0798-122B-47E5-9DA0-36A5FC8C7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960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7FA8A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7FA8AF"/>
                </a:solidFill>
                <a:latin typeface="Arial"/>
                <a:ea typeface="Arial"/>
                <a:cs typeface="Arial"/>
              </a:rPr>
              <a:t>CSE-CIC-IDS2018 · Báo cáo thực nghiệm RQ1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60FF4F-58C4-4F7A-ACA3-2E833EA1C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381125"/>
            <a:ext cx="2857500" cy="4000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09131A"/>
          </a:solidFill>
          <a:ln xmlns:a="http://schemas.openxmlformats.org/drawingml/2006/main" w="28575">
            <a:solidFill>
              <a:srgbClr val="D7F4F5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5EC726-1AAF-4E72-8D63-47ACA79C6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47875"/>
            <a:ext cx="2343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0F8F9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0F8F9"/>
                </a:solidFill>
                <a:latin typeface="Arial"/>
                <a:ea typeface="Arial"/>
                <a:cs typeface="Arial"/>
              </a:rPr>
              <a:t>CSE-CIC-IDS2018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1B1A33-CDB7-4A34-9D09-F47F7E68F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43200"/>
            <a:ext cx="2381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B8E8EC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B8E8EC"/>
                </a:solidFill>
                <a:latin typeface="Arial"/>
                <a:ea typeface="Arial"/>
                <a:cs typeface="Arial"/>
              </a:rPr>
              <a:t>3,5 TRIỆU</a:t>
            </a:r>
          </a:p>
          <a:p xmlns:a="http://schemas.openxmlformats.org/drawingml/2006/main">
            <a:pPr>
              <a:defRPr sz="2325" b="1">
                <a:solidFill>
                  <a:srgbClr val="B8E8EC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B8E8EC"/>
                </a:solidFill>
                <a:latin typeface="Arial"/>
                <a:ea typeface="Arial"/>
                <a:cs typeface="Arial"/>
              </a:rPr>
              <a:t>LUỒNG MẠNG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C05B22-EE75-4D72-BEA2-B7AA2B16D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48125"/>
            <a:ext cx="23431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DD1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B8CDD1"/>
                </a:solidFill>
                <a:latin typeface="Arial"/>
                <a:ea typeface="Arial"/>
                <a:cs typeface="Arial"/>
              </a:rPr>
              <a:t>78 đặc trưng chuẩn hóa</a:t>
            </a:r>
          </a:p>
          <a:p xmlns:a="http://schemas.openxmlformats.org/drawingml/2006/main">
            <a:pPr>
              <a:defRPr sz="1350">
                <a:solidFill>
                  <a:srgbClr val="B8CDD1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B8CDD1"/>
                </a:solidFill>
                <a:latin typeface="Arial"/>
                <a:ea typeface="Arial"/>
                <a:cs typeface="Arial"/>
              </a:rPr>
              <a:t>15 nhãn phân loại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CF8937-BE09-4B53-AD56-44D3E20E6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71450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A4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C940D2-C429-42C2-8EC8-2AD474518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943100"/>
            <a:ext cx="80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71D5D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71D5DE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3ED499-615C-4434-B7DB-32860739D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781175"/>
            <a:ext cx="4000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0F8F9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0F8F9"/>
                </a:solidFill>
                <a:latin typeface="Arial"/>
                <a:ea typeface="Arial"/>
                <a:cs typeface="Arial"/>
              </a:rPr>
              <a:t>Chuẩn hóa dữ liệu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406C95-6FAC-4C5C-BF40-9C93A5714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143125"/>
            <a:ext cx="457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DD1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B8CDD1"/>
                </a:solidFill>
                <a:latin typeface="Arial"/>
                <a:ea typeface="Arial"/>
                <a:cs typeface="Arial"/>
              </a:rPr>
              <a:t>3,5 triệu luồng · 78 đặc trưng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3B2A39-4BFA-4D83-92E7-6689DC3EB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905125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A45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709791-4783-4890-8787-65C313D24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133725"/>
            <a:ext cx="80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71D5D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71D5D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5B87B5-E4DC-4748-B3EC-AF8B1A2E2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71800"/>
            <a:ext cx="4000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0F8F9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0F8F9"/>
                </a:solidFill>
                <a:latin typeface="Arial"/>
                <a:ea typeface="Arial"/>
                <a:cs typeface="Arial"/>
              </a:rPr>
              <a:t>Chia tập phân tầng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D5FBF4-9C8C-4069-9328-50783ADC9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333750"/>
            <a:ext cx="457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DD1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B8CDD1"/>
                </a:solidFill>
                <a:latin typeface="Arial"/>
                <a:ea typeface="Arial"/>
                <a:cs typeface="Arial"/>
              </a:rPr>
              <a:t>2,8 triệu train · 700.000 test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74B3E0-F12E-45DA-94A6-E5446938D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09575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A45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C5AB7D-2413-48A1-841F-7E3756004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324350"/>
            <a:ext cx="80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71D5D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71D5D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E97F93-DB70-4094-A296-5891B52D2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162425"/>
            <a:ext cx="4000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0F8F9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0F8F9"/>
                </a:solidFill>
                <a:latin typeface="Arial"/>
                <a:ea typeface="Arial"/>
                <a:cs typeface="Arial"/>
              </a:rPr>
              <a:t>Bảo toàn lớp hiếm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EAFDAA-55E0-440F-915A-C3946C300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524375"/>
            <a:ext cx="457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DD1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B8CDD1"/>
                </a:solidFill>
                <a:latin typeface="Arial"/>
                <a:ea typeface="Arial"/>
                <a:cs typeface="Arial"/>
              </a:rPr>
              <a:t>Giữ đúng tỷ lệ 80/20 theo nhãn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6D7F10-E5C8-4A77-9CB3-EE016D92E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476875"/>
            <a:ext cx="6286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73A45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8DC9C4-E302-496B-8B33-4B444FE7A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63880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D2EEF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D2EEF0"/>
                </a:solidFill>
                <a:latin typeface="Arial"/>
                <a:ea typeface="Arial"/>
                <a:cs typeface="Arial"/>
              </a:rPr>
              <a:t>Test set không tham gia tiền xử lý hoặc tinh chỉnh siêu tham số</a:t>
            </a:r>
          </a:p>
        </p:txBody>
      </p:sp>
    </p:spTree>
    <p:extLst>
      <p:ext uri="{BB962C8B-B14F-4D97-AF65-F5344CB8AC3E}">
        <p14:creationId xmlns:p14="http://schemas.microsoft.com/office/powerpoint/2010/main" val="76749149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5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875C2AD-3F27-4E4B-8363-4800F60CD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D5D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381BD2-7480-4074-AD70-58499D063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720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0F8F9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0F8F9"/>
                </a:solidFill>
                <a:latin typeface="Arial"/>
                <a:ea typeface="Arial"/>
                <a:cs typeface="Arial"/>
              </a:rPr>
              <a:t>Random Forest: từ baseline đến cấu hình tối ưu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ED3D90-B4CD-43A3-B687-174374E6A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42925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71D5D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71D5DE"/>
                </a:solidFill>
                <a:latin typeface="Arial"/>
                <a:ea typeface="Arial"/>
                <a:cs typeface="Arial"/>
              </a:rPr>
              <a:t>RQ1  /  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C3BD6D-F720-4E4F-B37B-CC17F1F52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960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7FA8A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7FA8AF"/>
                </a:solidFill>
                <a:latin typeface="Arial"/>
                <a:ea typeface="Arial"/>
                <a:cs typeface="Arial"/>
              </a:rPr>
              <a:t>CSE-CIC-IDS2018 · Báo cáo thực nghiệm RQ1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518CD3-7305-471E-9AAC-C023182C0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09750"/>
            <a:ext cx="2190750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102730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46B00F-A8C5-46C3-9F7A-EB663BE93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00025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71D5D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71D5DE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07508E-45E9-4E23-9DDA-0CDA41DC1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76500"/>
            <a:ext cx="1809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0F8F9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0F8F9"/>
                </a:solidFill>
                <a:latin typeface="Arial"/>
                <a:ea typeface="Arial"/>
                <a:cs typeface="Arial"/>
              </a:rPr>
              <a:t>Baseline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98E35B-2DA2-47A4-806D-BE72B59AE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952750"/>
            <a:ext cx="1809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B8CDD1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8CDD1"/>
                </a:solidFill>
                <a:latin typeface="Arial"/>
                <a:ea typeface="Arial"/>
                <a:cs typeface="Arial"/>
              </a:rPr>
              <a:t>50 cây · depth 20</a:t>
            </a:r>
          </a:p>
          <a:p xmlns:a="http://schemas.openxmlformats.org/drawingml/2006/main">
            <a:pPr>
              <a:defRPr sz="1200">
                <a:solidFill>
                  <a:srgbClr val="B8CDD1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8CDD1"/>
                </a:solidFill>
                <a:latin typeface="Arial"/>
                <a:ea typeface="Arial"/>
                <a:cs typeface="Arial"/>
              </a:rPr>
              <a:t>Macro F1: 73,17%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77E6D5-A3ED-4901-B9E6-0DF02ADC4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609850"/>
            <a:ext cx="38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71D5DE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71D5DE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729FEF-A94E-46C6-AE6E-61F9794AA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809750"/>
            <a:ext cx="2190750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102730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6CC3B0-E987-4EA4-A131-FBDD821DD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00025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71D5D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71D5D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9DBA25-EF79-4735-A476-DC0B0D6FD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76500"/>
            <a:ext cx="1809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0F8F9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0F8F9"/>
                </a:solidFill>
                <a:latin typeface="Arial"/>
                <a:ea typeface="Arial"/>
                <a:cs typeface="Arial"/>
              </a:rPr>
              <a:t>Tập tuning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2BA419-EC96-495F-9460-11D68284D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952750"/>
            <a:ext cx="1809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B8CDD1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8CDD1"/>
                </a:solidFill>
                <a:latin typeface="Arial"/>
                <a:ea typeface="Arial"/>
                <a:cs typeface="Arial"/>
              </a:rPr>
              <a:t>400.000 mẫu phân tầng</a:t>
            </a:r>
          </a:p>
          <a:p xmlns:a="http://schemas.openxmlformats.org/drawingml/2006/main">
            <a:pPr>
              <a:defRPr sz="1200">
                <a:solidFill>
                  <a:srgbClr val="B8CDD1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8CDD1"/>
                </a:solidFill>
                <a:latin typeface="Arial"/>
                <a:ea typeface="Arial"/>
                <a:cs typeface="Arial"/>
              </a:rPr>
              <a:t>Bổ sung lớp cực hiếm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EAA2BB-9450-4050-81D2-6A5BD3E1F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2609850"/>
            <a:ext cx="38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71D5DE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71D5DE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7FB934-CD43-4C00-9C61-507EE7454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809750"/>
            <a:ext cx="2190750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102730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D3ABBD-76DD-44F7-98AE-16DD1B7C0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00025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71D5D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71D5D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3702FB-A29C-4B87-917D-C7DD6F386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476500"/>
            <a:ext cx="1809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0F8F9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0F8F9"/>
                </a:solidFill>
                <a:latin typeface="Arial"/>
                <a:ea typeface="Arial"/>
                <a:cs typeface="Arial"/>
              </a:rPr>
              <a:t>RandomizedSearchCV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44CA5C-52B2-4425-B584-BE7184F53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952750"/>
            <a:ext cx="1809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B8CDD1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8CDD1"/>
                </a:solidFill>
                <a:latin typeface="Arial"/>
                <a:ea typeface="Arial"/>
                <a:cs typeface="Arial"/>
              </a:rPr>
              <a:t>6 cấu hình ngẫu nhiên</a:t>
            </a:r>
          </a:p>
          <a:p xmlns:a="http://schemas.openxmlformats.org/drawingml/2006/main">
            <a:pPr>
              <a:defRPr sz="1200">
                <a:solidFill>
                  <a:srgbClr val="B8CDD1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8CDD1"/>
                </a:solidFill>
                <a:latin typeface="Arial"/>
                <a:ea typeface="Arial"/>
                <a:cs typeface="Arial"/>
              </a:rPr>
              <a:t>3-fold CV · f1_macro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510243-DF3B-4C23-B4FD-0AB4B3A2D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609850"/>
            <a:ext cx="38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71D5DE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71D5DE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AC590E-B4F4-4B5F-A6ED-FB0CAA8EF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809750"/>
            <a:ext cx="2190750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102730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50CF8E-10D5-45EE-87A3-F79FDB9C5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00025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71D5D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71D5DE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902EB3-A3B4-4EAB-A67A-7A4527658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476500"/>
            <a:ext cx="1809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0F8F9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0F8F9"/>
                </a:solidFill>
                <a:latin typeface="Arial"/>
                <a:ea typeface="Arial"/>
                <a:cs typeface="Arial"/>
              </a:rPr>
              <a:t>Huấn luyện full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3397DB4-4831-4182-83BC-FC20BDD08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952750"/>
            <a:ext cx="1809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B8CDD1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8CDD1"/>
                </a:solidFill>
                <a:latin typeface="Arial"/>
                <a:ea typeface="Arial"/>
                <a:cs typeface="Arial"/>
              </a:rPr>
              <a:t>2,8 triệu mẫu</a:t>
            </a:r>
          </a:p>
          <a:p xmlns:a="http://schemas.openxmlformats.org/drawingml/2006/main">
            <a:pPr>
              <a:defRPr sz="1200">
                <a:solidFill>
                  <a:srgbClr val="B8CDD1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8CDD1"/>
                </a:solidFill>
                <a:latin typeface="Arial"/>
                <a:ea typeface="Arial"/>
                <a:cs typeface="Arial"/>
              </a:rPr>
              <a:t>Đánh giá trên 700.000 test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9949E4B-16CE-4066-9B06-13A72871E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333875"/>
            <a:ext cx="10334625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173A45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C3E2864-B687-475F-AFCA-EC9A4EEEE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72000"/>
            <a:ext cx="2286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1D5D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1D5DE"/>
                </a:solidFill>
                <a:latin typeface="Arial"/>
                <a:ea typeface="Arial"/>
                <a:cs typeface="Arial"/>
              </a:rPr>
              <a:t>Không gian tìm kiếm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38FE86B-1609-4CC3-973D-94056CC61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99110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B8CDD1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8CDD1"/>
                </a:solidFill>
                <a:latin typeface="Arial"/>
                <a:ea typeface="Arial"/>
                <a:cs typeface="Arial"/>
              </a:rPr>
              <a:t>n_estimators: 30, 50, 80     ·     max_depth: 12, 20, 28     ·     min_samples_split: 5, 10     ·     min_samples_leaf: 2, 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B639A7D-D5C3-46A5-80EE-FB1062C56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295900"/>
            <a:ext cx="962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0F8F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0F8F9"/>
                </a:solidFill>
                <a:latin typeface="Arial"/>
                <a:ea typeface="Arial"/>
                <a:cs typeface="Arial"/>
              </a:rPr>
              <a:t>Cấu hình chọn: 80 cây · depth 28 · split 5 · leaf 2 · max_features=sqrt · class_weight=balanced_subsample</a:t>
            </a:r>
          </a:p>
        </p:txBody>
      </p:sp>
    </p:spTree>
    <p:extLst>
      <p:ext uri="{BB962C8B-B14F-4D97-AF65-F5344CB8AC3E}">
        <p14:creationId xmlns:p14="http://schemas.microsoft.com/office/powerpoint/2010/main" val="209918278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5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090606-A1CD-4153-8F15-E65D2400B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D5D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B08FEF-C5DB-44D1-9DCF-A9496FD7F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720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0F8F9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0F8F9"/>
                </a:solidFill>
                <a:latin typeface="Arial"/>
                <a:ea typeface="Arial"/>
                <a:cs typeface="Arial"/>
              </a:rPr>
              <a:t>Random Forest: tinh chỉnh cải thiện rõ Macro F1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33C0FF-8FDC-41A8-89ED-83C3911BA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42925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71D5D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71D5DE"/>
                </a:solidFill>
                <a:latin typeface="Arial"/>
                <a:ea typeface="Arial"/>
                <a:cs typeface="Arial"/>
              </a:rPr>
              <a:t>RQ1  /  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EC8BD8-9CD3-41FC-A564-C5EE1B385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960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7FA8A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7FA8AF"/>
                </a:solidFill>
                <a:latin typeface="Arial"/>
                <a:ea typeface="Arial"/>
                <a:cs typeface="Arial"/>
              </a:rPr>
              <a:t>CSE-CIC-IDS2018 · Báo cáo thực nghiệm RQ1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619125" y="1476375"/>
          <a:ext xmlns:a="http://schemas.openxmlformats.org/drawingml/2006/main" cx="6572250" cy="3667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3dbda715edc40ee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A0A471-A5AF-48EB-AA3B-425F6FB40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571625"/>
            <a:ext cx="3095625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102730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F14B90-90F0-4772-A927-EA7947E24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809750"/>
            <a:ext cx="2714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91D6A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91D6A3"/>
                </a:solidFill>
                <a:latin typeface="Arial"/>
                <a:ea typeface="Arial"/>
                <a:cs typeface="Arial"/>
              </a:rPr>
              <a:t>+7,64 điểm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55A226-3DC1-481E-AC6B-AD61B396C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305050"/>
            <a:ext cx="2714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B8CDD1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8CDD1"/>
                </a:solidFill>
                <a:latin typeface="Arial"/>
                <a:ea typeface="Arial"/>
                <a:cs typeface="Arial"/>
              </a:rPr>
              <a:t>Macro F1 sau tinh chỉnh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5B16A2-CE9F-44E6-9188-62FB751D7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095625"/>
            <a:ext cx="3095625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102730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7C19CF-67E4-476A-A848-4AD401280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333750"/>
            <a:ext cx="2619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1D5D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1D5DE"/>
                </a:solidFill>
                <a:latin typeface="Arial"/>
                <a:ea typeface="Arial"/>
                <a:cs typeface="Arial"/>
              </a:rPr>
              <a:t>Kết quả RF Tuned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C3636E-2749-4B85-90D5-6EEF5CE0A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810000"/>
            <a:ext cx="2428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DD1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B8CDD1"/>
                </a:solidFill>
                <a:latin typeface="Arial"/>
                <a:ea typeface="Arial"/>
                <a:cs typeface="Arial"/>
              </a:rPr>
              <a:t>Accuracy 93,17%</a:t>
            </a:r>
          </a:p>
          <a:p xmlns:a="http://schemas.openxmlformats.org/drawingml/2006/main">
            <a:pPr>
              <a:defRPr sz="1275">
                <a:solidFill>
                  <a:srgbClr val="B8CDD1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B8CDD1"/>
                </a:solidFill>
                <a:latin typeface="Arial"/>
                <a:ea typeface="Arial"/>
                <a:cs typeface="Arial"/>
              </a:rPr>
              <a:t>Macro Precision 78,65%</a:t>
            </a:r>
          </a:p>
          <a:p xmlns:a="http://schemas.openxmlformats.org/drawingml/2006/main">
            <a:pPr>
              <a:defRPr sz="1275">
                <a:solidFill>
                  <a:srgbClr val="B8CDD1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B8CDD1"/>
                </a:solidFill>
                <a:latin typeface="Arial"/>
                <a:ea typeface="Arial"/>
                <a:cs typeface="Arial"/>
              </a:rPr>
              <a:t>Macro Recall 86,02%</a:t>
            </a:r>
          </a:p>
          <a:p xmlns:a="http://schemas.openxmlformats.org/drawingml/2006/main">
            <a:pPr>
              <a:defRPr sz="1275">
                <a:solidFill>
                  <a:srgbClr val="B8CDD1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B8CDD1"/>
                </a:solidFill>
                <a:latin typeface="Arial"/>
                <a:ea typeface="Arial"/>
                <a:cs typeface="Arial"/>
              </a:rPr>
              <a:t>Macro F1 80,81%</a:t>
            </a:r>
          </a:p>
        </p:txBody>
      </p:sp>
    </p:spTree>
    <p:extLst>
      <p:ext uri="{BB962C8B-B14F-4D97-AF65-F5344CB8AC3E}">
        <p14:creationId xmlns:p14="http://schemas.microsoft.com/office/powerpoint/2010/main" val="86139719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5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C393C8-E483-4E7A-BCC6-861F795A6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D5D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8AF488-F00B-4CFE-A6A2-FE0237E91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720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0F8F9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0F8F9"/>
                </a:solidFill>
                <a:latin typeface="Arial"/>
                <a:ea typeface="Arial"/>
                <a:cs typeface="Arial"/>
              </a:rPr>
              <a:t>XGBoost: quét bảy cấu hình max_depth và learning_rate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D58032-8BFB-4116-AB0C-46A769118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42925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71D5D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71D5DE"/>
                </a:solidFill>
                <a:latin typeface="Arial"/>
                <a:ea typeface="Arial"/>
                <a:cs typeface="Arial"/>
              </a:rPr>
              <a:t>RQ1  /  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D8009C-186E-41E6-A386-62E753FBB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960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7FA8A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7FA8AF"/>
                </a:solidFill>
                <a:latin typeface="Arial"/>
                <a:ea typeface="Arial"/>
                <a:cs typeface="Arial"/>
              </a:rPr>
              <a:t>CSE-CIC-IDS2018 · Báo cáo thực nghiệm RQ1</a:t>
            </a:r>
          </a:p>
        </p:txBody>
      </p:sp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619125" y="1409700"/>
          <a:ext xmlns:a="http://schemas.openxmlformats.org/drawingml/2006/main" cx="714375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a18473fec464221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E471B0-88B8-4E17-B7D4-CA1277BFE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219700"/>
            <a:ext cx="447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7FA8A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7FA8AF"/>
                </a:solidFill>
                <a:latin typeface="Arial"/>
                <a:ea typeface="Arial"/>
                <a:cs typeface="Arial"/>
              </a:rPr>
              <a:t>Nhãn trục: max_depth / learning_rate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A335C4-8128-4800-B5CF-645C221A5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524000"/>
            <a:ext cx="2619375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173A45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3080F0-348E-400A-A38A-70D8A2624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752600"/>
            <a:ext cx="2143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1D5D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1D5DE"/>
                </a:solidFill>
                <a:latin typeface="Arial"/>
                <a:ea typeface="Arial"/>
                <a:cs typeface="Arial"/>
              </a:rPr>
              <a:t>Cấu hình được chọn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6E7D3A-3C81-4CE2-BB05-5892677D7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143125"/>
            <a:ext cx="214312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0F8F9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0F8F9"/>
                </a:solidFill>
                <a:latin typeface="Arial"/>
                <a:ea typeface="Arial"/>
                <a:cs typeface="Arial"/>
              </a:rPr>
              <a:t>depth = 8</a:t>
            </a:r>
          </a:p>
          <a:p xmlns:a="http://schemas.openxmlformats.org/drawingml/2006/main">
            <a:pPr>
              <a:defRPr sz="1275">
                <a:solidFill>
                  <a:srgbClr val="F0F8F9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0F8F9"/>
                </a:solidFill>
                <a:latin typeface="Arial"/>
                <a:ea typeface="Arial"/>
                <a:cs typeface="Arial"/>
              </a:rPr>
              <a:t>learning_rate = 0,08</a:t>
            </a:r>
          </a:p>
          <a:p xmlns:a="http://schemas.openxmlformats.org/drawingml/2006/main">
            <a:pPr>
              <a:defRPr sz="1275">
                <a:solidFill>
                  <a:srgbClr val="F0F8F9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0F8F9"/>
                </a:solidFill>
                <a:latin typeface="Arial"/>
                <a:ea typeface="Arial"/>
                <a:cs typeface="Arial"/>
              </a:rPr>
              <a:t>n_estimators = 100</a:t>
            </a:r>
          </a:p>
          <a:p xmlns:a="http://schemas.openxmlformats.org/drawingml/2006/main">
            <a:pPr>
              <a:defRPr sz="1275">
                <a:solidFill>
                  <a:srgbClr val="F0F8F9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0F8F9"/>
                </a:solidFill>
                <a:latin typeface="Arial"/>
                <a:ea typeface="Arial"/>
                <a:cs typeface="Arial"/>
              </a:rPr>
              <a:t>tree_method = hist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FBC0E8-894C-4F05-8208-42E946266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429000"/>
            <a:ext cx="2619375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102730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EC2380-2795-472A-8D96-52202A801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667125"/>
            <a:ext cx="2143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1D5D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1D5DE"/>
                </a:solidFill>
                <a:latin typeface="Arial"/>
                <a:ea typeface="Arial"/>
                <a:cs typeface="Arial"/>
              </a:rPr>
              <a:t>Lý do lựa chọn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399D96-C43C-449F-BB50-73E08E6D7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095750"/>
            <a:ext cx="2143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DD1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B8CDD1"/>
                </a:solidFill>
                <a:latin typeface="Arial"/>
                <a:ea typeface="Arial"/>
                <a:cs typeface="Arial"/>
              </a:rPr>
              <a:t>Macro F1 85,81%</a:t>
            </a:r>
          </a:p>
          <a:p xmlns:a="http://schemas.openxmlformats.org/drawingml/2006/main">
            <a:pPr>
              <a:defRPr sz="1275">
                <a:solidFill>
                  <a:srgbClr val="B8CDD1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B8CDD1"/>
                </a:solidFill>
                <a:latin typeface="Arial"/>
                <a:ea typeface="Arial"/>
                <a:cs typeface="Arial"/>
              </a:rPr>
              <a:t>FPR Benign 5,7481%</a:t>
            </a:r>
          </a:p>
          <a:p xmlns:a="http://schemas.openxmlformats.org/drawingml/2006/main">
            <a:pPr>
              <a:defRPr sz="1275">
                <a:solidFill>
                  <a:srgbClr val="B8CDD1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B8CDD1"/>
                </a:solidFill>
                <a:latin typeface="Arial"/>
                <a:ea typeface="Arial"/>
                <a:cs typeface="Arial"/>
              </a:rPr>
              <a:t>160,33 giây huấn luyện</a:t>
            </a:r>
          </a:p>
        </p:txBody>
      </p:sp>
    </p:spTree>
    <p:extLst>
      <p:ext uri="{BB962C8B-B14F-4D97-AF65-F5344CB8AC3E}">
        <p14:creationId xmlns:p14="http://schemas.microsoft.com/office/powerpoint/2010/main" val="206530672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5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ADFF4BE-CEA4-4A6E-8F0C-DB3E17EFD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D5D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06A521-2081-4C9C-8FF0-440675DEB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720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0F8F9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0F8F9"/>
                </a:solidFill>
                <a:latin typeface="Arial"/>
                <a:ea typeface="Arial"/>
                <a:cs typeface="Arial"/>
              </a:rPr>
              <a:t>XGBoost tối ưu: hiệu năng trên tập test độc lập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DDF488-2CC7-4BD4-A90E-BB6B5554F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42925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71D5D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71D5DE"/>
                </a:solidFill>
                <a:latin typeface="Arial"/>
                <a:ea typeface="Arial"/>
                <a:cs typeface="Arial"/>
              </a:rPr>
              <a:t>RQ1  /  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39A9B8-58D6-4418-9D7F-BAD51AF9C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960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7FA8A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7FA8AF"/>
                </a:solidFill>
                <a:latin typeface="Arial"/>
                <a:ea typeface="Arial"/>
                <a:cs typeface="Arial"/>
              </a:rPr>
              <a:t>CSE-CIC-IDS2018 · Báo cáo thực nghiệm RQ1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9E69A7-7C80-4C34-B287-1C0884652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76375"/>
            <a:ext cx="22860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102730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FB8FBA-7199-4FCC-BFAD-1F622B46F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647825"/>
            <a:ext cx="1905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71D5DE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71D5DE"/>
                </a:solidFill>
                <a:latin typeface="Arial"/>
                <a:ea typeface="Arial"/>
                <a:cs typeface="Arial"/>
              </a:rPr>
              <a:t>97,91%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162B3A-B783-4591-8330-0F2ADDF9E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133600"/>
            <a:ext cx="1981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B8CDD1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B8CDD1"/>
                </a:solidFill>
                <a:latin typeface="Arial"/>
                <a:ea typeface="Arial"/>
                <a:cs typeface="Arial"/>
              </a:rPr>
              <a:t>Accuracy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0FCA69-4347-4C61-9D0E-9BA659118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1476375"/>
            <a:ext cx="22860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102730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80AD14-06F6-4BE1-86FC-ED9767A8A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647825"/>
            <a:ext cx="1905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91D6A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91D6A3"/>
                </a:solidFill>
                <a:latin typeface="Arial"/>
                <a:ea typeface="Arial"/>
                <a:cs typeface="Arial"/>
              </a:rPr>
              <a:t>90,84%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C1FEE9-E707-4B5A-894B-7A7DF0B64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2133600"/>
            <a:ext cx="1981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B8CDD1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B8CDD1"/>
                </a:solidFill>
                <a:latin typeface="Arial"/>
                <a:ea typeface="Arial"/>
                <a:cs typeface="Arial"/>
              </a:rPr>
              <a:t>Macro Precision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746D91-6AE8-4E1F-9153-E269F7263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1476375"/>
            <a:ext cx="22860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102730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191A45-B0BB-432C-82C1-085870977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647825"/>
            <a:ext cx="1905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71D5DE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71D5DE"/>
                </a:solidFill>
                <a:latin typeface="Arial"/>
                <a:ea typeface="Arial"/>
                <a:cs typeface="Arial"/>
              </a:rPr>
              <a:t>85,81%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883444-DD86-4631-B91C-F5D92C184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2133600"/>
            <a:ext cx="1981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B8CDD1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B8CDD1"/>
                </a:solidFill>
                <a:latin typeface="Arial"/>
                <a:ea typeface="Arial"/>
                <a:cs typeface="Arial"/>
              </a:rPr>
              <a:t>Macro F1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54EBE9-175F-4537-B342-B90E7DC8B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476375"/>
            <a:ext cx="22860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102730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BBDED4-93ED-42FE-A47A-C84A892E6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647825"/>
            <a:ext cx="1905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F9B86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9B86"/>
                </a:solidFill>
                <a:latin typeface="Arial"/>
                <a:ea typeface="Arial"/>
                <a:cs typeface="Arial"/>
              </a:rPr>
              <a:t>5,75%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18AF12-265C-49CF-AB10-F7262E088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2133600"/>
            <a:ext cx="1981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B8CDD1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B8CDD1"/>
                </a:solidFill>
                <a:latin typeface="Arial"/>
                <a:ea typeface="Arial"/>
                <a:cs typeface="Arial"/>
              </a:rPr>
              <a:t>FPR trên Benign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BFD772-FABF-4459-B8CD-85B32C570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143250"/>
            <a:ext cx="4572000" cy="2047875"/>
          </a:xfrm>
          <a:prstGeom xmlns:a="http://schemas.openxmlformats.org/drawingml/2006/main" prst="roundRect">
            <a:avLst>
              <a:gd name="adj" fmla="val 3721"/>
            </a:avLst>
          </a:prstGeom>
          <a:solidFill xmlns:a="http://schemas.openxmlformats.org/drawingml/2006/main">
            <a:srgbClr val="102730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FCD5EE-C92E-45A1-B044-2D829B8E4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4290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71D5D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71D5DE"/>
                </a:solidFill>
                <a:latin typeface="Arial"/>
                <a:ea typeface="Arial"/>
                <a:cs typeface="Arial"/>
              </a:rPr>
              <a:t>Các lớp nhận diện rất tốt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6C4539-BBA5-438A-BB9A-E93639CE9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962400"/>
            <a:ext cx="38576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DD1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B8CDD1"/>
                </a:solidFill>
                <a:latin typeface="Arial"/>
                <a:ea typeface="Arial"/>
                <a:cs typeface="Arial"/>
              </a:rPr>
              <a:t>Bot, HOIC, Hulk, GoldenEye, Slowloris và SSH-Bruteforce đều đạt F1 xấp xỉ 100%.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C2ED7D-1DCC-4FC3-96AD-E1BA5CF9B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143250"/>
            <a:ext cx="5000625" cy="2047875"/>
          </a:xfrm>
          <a:prstGeom xmlns:a="http://schemas.openxmlformats.org/drawingml/2006/main" prst="roundRect">
            <a:avLst>
              <a:gd name="adj" fmla="val 3721"/>
            </a:avLst>
          </a:prstGeom>
          <a:solidFill xmlns:a="http://schemas.openxmlformats.org/drawingml/2006/main">
            <a:srgbClr val="102730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C2D8ED-57DE-4A88-8D51-6ACDB1DF1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4290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71D5D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71D5DE"/>
                </a:solidFill>
                <a:latin typeface="Arial"/>
                <a:ea typeface="Arial"/>
                <a:cs typeface="Arial"/>
              </a:rPr>
              <a:t>Ý nghĩa vận hành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9DBB41A-D517-46D5-866C-18C4AEE0D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962400"/>
            <a:ext cx="4095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DD1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B8CDD1"/>
                </a:solidFill>
                <a:latin typeface="Arial"/>
                <a:ea typeface="Arial"/>
                <a:cs typeface="Arial"/>
              </a:rPr>
              <a:t>Benign Recall đạt 99,77%. Mô hình nhận đúng 488.861 trong 490.000 mẫu lưu lượng bình thường.</a:t>
            </a:r>
          </a:p>
        </p:txBody>
      </p:sp>
    </p:spTree>
    <p:extLst>
      <p:ext uri="{BB962C8B-B14F-4D97-AF65-F5344CB8AC3E}">
        <p14:creationId xmlns:p14="http://schemas.microsoft.com/office/powerpoint/2010/main" val="98468298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5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18B328-2B22-4A88-B91C-4A36CF83C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D5D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3EB1E0-DB13-4103-B497-8E4EAD46E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720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0F8F9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0F8F9"/>
                </a:solidFill>
                <a:latin typeface="Arial"/>
                <a:ea typeface="Arial"/>
                <a:cs typeface="Arial"/>
              </a:rPr>
              <a:t>XGBoost vượt Random Forest trên các chỉ số chính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C31B2B-2F08-450C-9EB1-E63E05852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42925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71D5D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71D5DE"/>
                </a:solidFill>
                <a:latin typeface="Arial"/>
                <a:ea typeface="Arial"/>
                <a:cs typeface="Arial"/>
              </a:rPr>
              <a:t>RQ1  /  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6B860F-46FE-4D1A-BD73-03505C3F4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960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7FA8A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7FA8AF"/>
                </a:solidFill>
                <a:latin typeface="Arial"/>
                <a:ea typeface="Arial"/>
                <a:cs typeface="Arial"/>
              </a:rPr>
              <a:t>CSE-CIC-IDS2018 · Báo cáo thực nghiệm RQ1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619125" y="1428750"/>
          <a:ext xmlns:a="http://schemas.openxmlformats.org/drawingml/2006/main" cx="7000875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38719d3da0b416d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6A0193-C4FE-4699-93F9-053C687A6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552575"/>
            <a:ext cx="2667000" cy="33147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102730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BEED3A-C555-4BF2-A9C6-B3A81707F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809750"/>
            <a:ext cx="219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71D5D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71D5DE"/>
                </a:solidFill>
                <a:latin typeface="Arial"/>
                <a:ea typeface="Arial"/>
                <a:cs typeface="Arial"/>
              </a:rPr>
              <a:t>Chênh lệch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07934E-9248-46FE-B502-8C6C0EAA1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81250"/>
            <a:ext cx="2190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F0F8F9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F0F8F9"/>
                </a:solidFill>
                <a:latin typeface="Arial"/>
                <a:ea typeface="Arial"/>
                <a:cs typeface="Arial"/>
              </a:rPr>
              <a:t>+4,74 điểm Accuracy</a:t>
            </a:r>
          </a:p>
          <a:p xmlns:a="http://schemas.openxmlformats.org/drawingml/2006/main">
            <a:pPr>
              <a:defRPr sz="1350">
                <a:solidFill>
                  <a:srgbClr val="F0F8F9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F0F8F9"/>
                </a:solidFill>
                <a:latin typeface="Arial"/>
                <a:ea typeface="Arial"/>
                <a:cs typeface="Arial"/>
              </a:rPr>
              <a:t>+12,19 điểm Macro Precision</a:t>
            </a:r>
          </a:p>
          <a:p xmlns:a="http://schemas.openxmlformats.org/drawingml/2006/main">
            <a:pPr>
              <a:defRPr sz="1350">
                <a:solidFill>
                  <a:srgbClr val="F0F8F9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F0F8F9"/>
                </a:solidFill>
                <a:latin typeface="Arial"/>
                <a:ea typeface="Arial"/>
                <a:cs typeface="Arial"/>
              </a:rPr>
              <a:t>+5,00 điểm Macro F1</a:t>
            </a:r>
          </a:p>
          <a:p xmlns:a="http://schemas.openxmlformats.org/drawingml/2006/main">
            <a:pPr>
              <a:defRPr sz="1350">
                <a:solidFill>
                  <a:srgbClr val="F0F8F9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F0F8F9"/>
                </a:solidFill>
                <a:latin typeface="Arial"/>
                <a:ea typeface="Arial"/>
                <a:cs typeface="Arial"/>
              </a:rPr>
              <a:t>−2,13 điểm FPR Benign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8F8BC4-9D15-439F-86E5-C6A600C5E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1910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1D6A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91D6A3"/>
                </a:solidFill>
                <a:latin typeface="Arial"/>
                <a:ea typeface="Arial"/>
                <a:cs typeface="Arial"/>
              </a:rPr>
              <a:t>XGBoost được chọn cho RQ2 và RQ3</a:t>
            </a:r>
          </a:p>
        </p:txBody>
      </p:sp>
    </p:spTree>
    <p:extLst>
      <p:ext uri="{BB962C8B-B14F-4D97-AF65-F5344CB8AC3E}">
        <p14:creationId xmlns:p14="http://schemas.microsoft.com/office/powerpoint/2010/main" val="164624698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5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239B0E-A084-4AEE-8F9B-83CD9618D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D5D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12ECDE-868F-4DC7-B5F2-EFE24E7FB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720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0F8F9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0F8F9"/>
                </a:solidFill>
                <a:latin typeface="Arial"/>
                <a:ea typeface="Arial"/>
                <a:cs typeface="Arial"/>
              </a:rPr>
              <a:t>Các nhầm lẫn còn lại và cầu nối sang RQ2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D4E150-7697-48C7-BB28-FBDF55173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42925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71D5D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71D5DE"/>
                </a:solidFill>
                <a:latin typeface="Arial"/>
                <a:ea typeface="Arial"/>
                <a:cs typeface="Arial"/>
              </a:rPr>
              <a:t>RQ1  /  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80C1F9-0482-4A71-8BC9-846BA82AB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960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7FA8A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7FA8AF"/>
                </a:solidFill>
                <a:latin typeface="Arial"/>
                <a:ea typeface="Arial"/>
                <a:cs typeface="Arial"/>
              </a:rPr>
              <a:t>CSE-CIC-IDS2018 · Báo cáo thực nghiệm RQ1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0AAFB6-7311-4B6A-88DA-DAA880299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76375"/>
            <a:ext cx="101917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3A2B31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ABAC53-C115-4E46-8C4E-EF94D3E6C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66875"/>
            <a:ext cx="333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9B8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9B86"/>
                </a:solidFill>
                <a:latin typeface="Arial"/>
                <a:ea typeface="Arial"/>
                <a:cs typeface="Arial"/>
              </a:rPr>
              <a:t>Infiltration → Benign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B5C35B-9C89-4FBB-8B14-855D595F5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657350"/>
            <a:ext cx="5953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DD1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B8CDD1"/>
                </a:solidFill>
                <a:latin typeface="Arial"/>
                <a:ea typeface="Arial"/>
                <a:cs typeface="Arial"/>
              </a:rPr>
              <a:t>84,01% mẫu Infiltration bị dự đoán là Benign. Lưu lượng vi mô gần với hành vi người dùng bình thường.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0FAA11-0D50-416E-AF90-7F04CC5CB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14625"/>
            <a:ext cx="101917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02730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8CC8CB-E543-4CDD-8128-5636E33D2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05125"/>
            <a:ext cx="333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1D5D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1D5DE"/>
                </a:solidFill>
                <a:latin typeface="Arial"/>
                <a:ea typeface="Arial"/>
                <a:cs typeface="Arial"/>
              </a:rPr>
              <a:t>SlowHTTPTest → FTP-BruteForce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BCE176-5547-4394-9BAF-93F1D73DA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95600"/>
            <a:ext cx="5953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DD1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B8CDD1"/>
                </a:solidFill>
                <a:latin typeface="Arial"/>
                <a:ea typeface="Arial"/>
                <a:cs typeface="Arial"/>
              </a:rPr>
              <a:t>62,36% mẫu SlowHTTPTest nhầm sang FTP-BruteForce. Hai loại đều có phiên dài và tốc độ truyền thấp.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AFE9C6-6667-419F-8E5B-51C059D3E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952875"/>
            <a:ext cx="101917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02730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132B01-EF3B-44D6-B12D-95F266E0D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43375"/>
            <a:ext cx="333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1D5D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1D5DE"/>
                </a:solidFill>
                <a:latin typeface="Arial"/>
                <a:ea typeface="Arial"/>
                <a:cs typeface="Arial"/>
              </a:rPr>
              <a:t>SQL Injection → Web Brute Force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182AB6-27FA-47FF-BA6A-E3FAAD63D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133850"/>
            <a:ext cx="5953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DD1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B8CDD1"/>
                </a:solidFill>
                <a:latin typeface="Arial"/>
                <a:ea typeface="Arial"/>
                <a:cs typeface="Arial"/>
              </a:rPr>
              <a:t>41,18% mẫu SQL Injection nhầm sang Web Brute Force. Lưu lượng HTTP/HTTPS có đặc trưng thống kê tương đồng.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7EC72C-B48A-4B55-82F4-89746BD1A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429250"/>
            <a:ext cx="1019175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173A45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135B4E-2346-4BC7-A9AC-2BEFDC56D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29275"/>
            <a:ext cx="971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D2EEF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D2EEF0"/>
                </a:solidFill>
                <a:latin typeface="Arial"/>
                <a:ea typeface="Arial"/>
                <a:cs typeface="Arial"/>
              </a:rPr>
              <a:t>Các nhóm khó là mẫu trọng tâm để RQ2 dùng SHAP và LIME phân tích đặc trưng, độ ổn định và độ tin cậy của giải thích.</a:t>
            </a:r>
          </a:p>
        </p:txBody>
      </p:sp>
    </p:spTree>
    <p:extLst>
      <p:ext uri="{BB962C8B-B14F-4D97-AF65-F5344CB8AC3E}">
        <p14:creationId xmlns:p14="http://schemas.microsoft.com/office/powerpoint/2010/main" val="190091809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15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C9155B-0C74-4E37-8DE3-F6E39CD6E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D5D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46EF1C-9997-490E-B089-C1E4DDFB8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720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0F8F9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0F8F9"/>
                </a:solidFill>
                <a:latin typeface="Arial"/>
                <a:ea typeface="Arial"/>
                <a:cs typeface="Arial"/>
              </a:rPr>
              <a:t>Tiến độ RQ2 và định hướng xây dựng dashboard RQ3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648104-FDF4-4F7B-AC77-E6B19F114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42925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71D5D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71D5DE"/>
                </a:solidFill>
                <a:latin typeface="Arial"/>
                <a:ea typeface="Arial"/>
                <a:cs typeface="Arial"/>
              </a:rPr>
              <a:t>RQ1  /  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B76ABE-8E4E-41CD-8D14-97908FBF4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960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7FA8A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7FA8AF"/>
                </a:solidFill>
                <a:latin typeface="Arial"/>
                <a:ea typeface="Arial"/>
                <a:cs typeface="Arial"/>
              </a:rPr>
              <a:t>CSE-CIC-IDS2018 · Báo cáo thực nghiệm RQ1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EEE414-000B-4506-B882-EF4CD6F35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62125"/>
            <a:ext cx="285750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102730"/>
          </a:solidFill>
          <a:ln xmlns:a="http://schemas.openxmlformats.org/drawingml/2006/main" w="19050">
            <a:solidFill>
              <a:srgbClr val="91D6A3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072209-1CCB-4B97-A7D9-C4C09020B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047875"/>
            <a:ext cx="24288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91D6A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91D6A3"/>
                </a:solidFill>
                <a:latin typeface="Arial"/>
                <a:ea typeface="Arial"/>
                <a:cs typeface="Arial"/>
              </a:rPr>
              <a:t>RQ1 · HOÀN THÀNH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95E56E-5DD1-45EF-8928-F38AAF0BA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19375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0F8F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0F8F9"/>
                </a:solidFill>
                <a:latin typeface="Arial"/>
                <a:ea typeface="Arial"/>
                <a:cs typeface="Arial"/>
              </a:rPr>
              <a:t>Mô hình nền đã cố định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DFFFA7-B635-4B4F-8531-75DF18A13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3333750"/>
            <a:ext cx="23241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B8CDD1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8CDD1"/>
                </a:solidFill>
                <a:latin typeface="Arial"/>
                <a:ea typeface="Arial"/>
                <a:cs typeface="Arial"/>
              </a:rPr>
              <a:t>XGBoost Tuned được chọn</a:t>
            </a:r>
          </a:p>
          <a:p xmlns:a="http://schemas.openxmlformats.org/drawingml/2006/main">
            <a:pPr>
              <a:defRPr sz="1200">
                <a:solidFill>
                  <a:srgbClr val="B8CDD1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8CDD1"/>
                </a:solidFill>
                <a:latin typeface="Arial"/>
                <a:ea typeface="Arial"/>
                <a:cs typeface="Arial"/>
              </a:rPr>
              <a:t>cho phát hiện đa lớp</a:t>
            </a:r>
          </a:p>
          <a:p xmlns:a="http://schemas.openxmlformats.org/drawingml/2006/main">
            <a:pPr>
              <a:defRPr sz="1200">
                <a:solidFill>
                  <a:srgbClr val="B8CDD1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8CDD1"/>
                </a:solidFill>
                <a:latin typeface="Arial"/>
                <a:ea typeface="Arial"/>
                <a:cs typeface="Arial"/>
              </a:rPr>
              <a:t>và làm đầu vào cho XAI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44A492-DC54-435B-A95F-62CE83E53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857500"/>
            <a:ext cx="38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71D5DE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71D5DE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078E11-DE71-42B7-A4F9-C85D936AF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762125"/>
            <a:ext cx="285750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102730"/>
          </a:solidFill>
          <a:ln xmlns:a="http://schemas.openxmlformats.org/drawingml/2006/main" w="19050">
            <a:solidFill>
              <a:srgbClr val="FFD16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C0EE8A-8255-44CC-8650-7D8B04DB7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47875"/>
            <a:ext cx="24288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D16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D16A"/>
                </a:solidFill>
                <a:latin typeface="Arial"/>
                <a:ea typeface="Arial"/>
                <a:cs typeface="Arial"/>
              </a:rPr>
              <a:t>RQ2 · ĐANG THỰC HIỆN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2B899B-D734-42E8-B634-866975000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619375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0F8F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0F8F9"/>
                </a:solidFill>
                <a:latin typeface="Arial"/>
                <a:ea typeface="Arial"/>
                <a:cs typeface="Arial"/>
              </a:rPr>
              <a:t>Phân tích SHAP và LIME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1C3AD7-E92D-4A62-A58E-5C7E1778F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333750"/>
            <a:ext cx="23241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B8CDD1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8CDD1"/>
                </a:solidFill>
                <a:latin typeface="Arial"/>
                <a:ea typeface="Arial"/>
                <a:cs typeface="Arial"/>
              </a:rPr>
              <a:t>Giải thích cùng flow và lớp dự đoán</a:t>
            </a:r>
          </a:p>
          <a:p xmlns:a="http://schemas.openxmlformats.org/drawingml/2006/main">
            <a:pPr>
              <a:defRPr sz="1200">
                <a:solidFill>
                  <a:srgbClr val="B8CDD1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8CDD1"/>
                </a:solidFill>
                <a:latin typeface="Arial"/>
                <a:ea typeface="Arial"/>
                <a:cs typeface="Arial"/>
              </a:rPr>
              <a:t>Đang hiệu chỉnh quy trình đánh giá:</a:t>
            </a:r>
          </a:p>
          <a:p xmlns:a="http://schemas.openxmlformats.org/drawingml/2006/main">
            <a:pPr>
              <a:defRPr sz="1200">
                <a:solidFill>
                  <a:srgbClr val="B8CDD1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8CDD1"/>
                </a:solidFill>
                <a:latin typeface="Arial"/>
                <a:ea typeface="Arial"/>
                <a:cs typeface="Arial"/>
              </a:rPr>
              <a:t>agreement, domain và faithfulness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583C69-0AC3-4CB4-8100-A5D5FD051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857500"/>
            <a:ext cx="38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71D5DE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71D5DE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A59165-CEC2-4D59-95BB-1A69F43C1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1762125"/>
            <a:ext cx="285750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102730"/>
          </a:solidFill>
          <a:ln xmlns:a="http://schemas.openxmlformats.org/drawingml/2006/main" w="19050">
            <a:solidFill>
              <a:srgbClr val="71D5DE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9D59E2-9D18-4FFE-95D5-62AEAB67A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2047875"/>
            <a:ext cx="24288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71D5D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71D5DE"/>
                </a:solidFill>
                <a:latin typeface="Arial"/>
                <a:ea typeface="Arial"/>
                <a:cs typeface="Arial"/>
              </a:rPr>
              <a:t>RQ3 · ĐANG CHUẨN BỊ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81827E-F183-4532-A19D-4E503B1A8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619375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0F8F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0F8F9"/>
                </a:solidFill>
                <a:latin typeface="Arial"/>
                <a:ea typeface="Arial"/>
                <a:cs typeface="Arial"/>
              </a:rPr>
              <a:t>Dashboard giám sát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F549AC-FC6C-4A44-9C43-C57D71EA7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3333750"/>
            <a:ext cx="23241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B8CDD1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8CDD1"/>
                </a:solidFill>
                <a:latin typeface="Arial"/>
                <a:ea typeface="Arial"/>
                <a:cs typeface="Arial"/>
              </a:rPr>
              <a:t>Chuẩn bị thiết kế luồng hiển thị</a:t>
            </a:r>
          </a:p>
          <a:p xmlns:a="http://schemas.openxmlformats.org/drawingml/2006/main">
            <a:pPr>
              <a:defRPr sz="1200">
                <a:solidFill>
                  <a:srgbClr val="B8CDD1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8CDD1"/>
                </a:solidFill>
                <a:latin typeface="Arial"/>
                <a:ea typeface="Arial"/>
                <a:cs typeface="Arial"/>
              </a:rPr>
              <a:t>dự đoán, cảnh báo và giải thích</a:t>
            </a:r>
          </a:p>
          <a:p xmlns:a="http://schemas.openxmlformats.org/drawingml/2006/main">
            <a:pPr>
              <a:defRPr sz="1200">
                <a:solidFill>
                  <a:srgbClr val="B8CDD1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8CDD1"/>
                </a:solidFill>
                <a:latin typeface="Arial"/>
                <a:ea typeface="Arial"/>
                <a:cs typeface="Arial"/>
              </a:rPr>
              <a:t>cho hệ thống NIDS thời gian thực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66E243-4BDB-4B59-8EBB-7566DD9A8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00625"/>
            <a:ext cx="98107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73A45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753640-4AB5-439F-8A4F-D16DF37D5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91125"/>
            <a:ext cx="9286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D6EEF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D6EEF0"/>
                </a:solidFill>
                <a:latin typeface="Arial"/>
                <a:ea typeface="Arial"/>
                <a:cs typeface="Arial"/>
              </a:rPr>
              <a:t>RQ2 chưa kết luận bằng số liệu khi thí nghiệm chưa hoàn tất; các kết quả SHAP/LIME sẽ được báo cáo sau khi kiểm tra độ đồng thuận, mức phù hợp miền và độ trung thực.</a:t>
            </a:r>
          </a:p>
        </p:txBody>
      </p:sp>
    </p:spTree>
    <p:extLst>
      <p:ext uri="{BB962C8B-B14F-4D97-AF65-F5344CB8AC3E}">
        <p14:creationId xmlns:p14="http://schemas.microsoft.com/office/powerpoint/2010/main" val="214436757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2026-09-21T10:40:24.5930000Z</dcterms:created>
  <dcterms:modified xsi:type="dcterms:W3CDTF">2026-09-21T10:40:24.5930000Z</dcterms:modified>
</coreProperties>
</file>